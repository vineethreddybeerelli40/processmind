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5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D38"/>
          </a:solidFill>
          <a:ln w="12700">
            <a:solidFill>
              <a:srgbClr val="173D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37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PROCESSMIND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16768" y="23774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REVIEW 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657453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5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ProcessMind • Student voice → institutional action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73968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58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13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406640" y="-411480"/>
            <a:ext cx="5303520" cy="5303520"/>
          </a:xfrm>
          <a:prstGeom prst="arc">
            <a:avLst/>
          </a:prstGeom>
          <a:solidFill>
            <a:srgbClr val="287D73">
              <a:alpha val="55000"/>
            </a:srgbClr>
          </a:solidFill>
          <a:ln w="12700">
            <a:solidFill>
              <a:srgbClr val="287D7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1005840"/>
            <a:ext cx="1920240" cy="1325880"/>
          </a:xfrm>
          <a:prstGeom prst="line">
            <a:avLst/>
          </a:prstGeom>
          <a:noFill/>
          <a:ln w="25400">
            <a:solidFill>
              <a:srgbClr val="E85D4A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8019288" y="1371600"/>
            <a:ext cx="1920240" cy="1143000"/>
          </a:xfrm>
          <a:prstGeom prst="line">
            <a:avLst/>
          </a:prstGeom>
          <a:noFill/>
          <a:ln w="25400">
            <a:solidFill>
              <a:srgbClr val="E8B44B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586216" y="1005840"/>
            <a:ext cx="1920240" cy="1325880"/>
          </a:xfrm>
          <a:prstGeom prst="line">
            <a:avLst/>
          </a:prstGeom>
          <a:noFill/>
          <a:ln w="25400">
            <a:solidFill>
              <a:srgbClr val="E85D4A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153144" y="1371600"/>
            <a:ext cx="1920240" cy="1143000"/>
          </a:xfrm>
          <a:prstGeom prst="line">
            <a:avLst/>
          </a:prstGeom>
          <a:noFill/>
          <a:ln w="25400">
            <a:solidFill>
              <a:srgbClr val="E8B44B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720072" y="1005840"/>
            <a:ext cx="1920240" cy="1325880"/>
          </a:xfrm>
          <a:prstGeom prst="line">
            <a:avLst/>
          </a:prstGeom>
          <a:noFill/>
          <a:ln w="25400">
            <a:solidFill>
              <a:srgbClr val="E85D4A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287000" y="1371600"/>
            <a:ext cx="1920240" cy="1143000"/>
          </a:xfrm>
          <a:prstGeom prst="line">
            <a:avLst/>
          </a:prstGeom>
          <a:noFill/>
          <a:ln w="25400">
            <a:solidFill>
              <a:srgbClr val="E8B44B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58368" y="64008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9951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REVIEW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126187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PROCESSMIND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76656" y="2084832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4E8C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AI-Powered Student Voice, Event Intelligence &amp;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4E8C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College Improvement Platform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7D8D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Literature Review &amp; Research Gap Analysis  |  B.Tech Project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4110229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896112" y="4224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GROUP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6112" y="4480560"/>
            <a:ext cx="44439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Priyanka   — 2510030540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 err="1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P.Rishitha</a:t>
            </a:r>
            <a:r>
              <a:rPr lang="en-US" sz="105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2510030182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 err="1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B.Vineeth</a:t>
            </a:r>
            <a:r>
              <a:rPr lang="en-US" sz="105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 — 2510030240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Fardan      — 2510030263</a:t>
            </a:r>
          </a:p>
          <a:p>
            <a:r>
              <a:rPr lang="en-US" sz="1050" dirty="0" err="1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Alpansh</a:t>
            </a:r>
            <a:r>
              <a:rPr lang="en-US" sz="105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   — 2510030356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14032" y="4270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PROJECT FOCUS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14032" y="461772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LISTEN  •  UNDERSTAND  •  PRIORITIZE  •  IMPROVE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14032" y="503834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C7D8D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intelligence layer for feedback, events, and measurable campus action.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47120" y="634593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FC8C1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 PROBLEM &amp; MOTIVATION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353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RESEARCH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6184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Colleges collect abundant feedback and event data, yet decisions are often driven by fragmented forms, delayed summaries, and incomplete context.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248716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651760"/>
            <a:ext cx="384048" cy="384048"/>
          </a:xfrm>
          <a:prstGeom prst="ellipse">
            <a:avLst/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pic>
        <p:nvPicPr>
          <p:cNvPr id="7" name="Image 0" descr="mess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74320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264261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Fragmented Student Voice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61872" y="2990088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Feedback is scattered across surveys, messages, cells, and informal conversations.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64408" y="2487168"/>
            <a:ext cx="248716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47288" y="2651760"/>
            <a:ext cx="384048" cy="384048"/>
          </a:xfrm>
          <a:prstGeom prst="ellipse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pic>
        <p:nvPicPr>
          <p:cNvPr id="12" name="Image 1" descr="calend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274320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9352" y="264261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Disconnected Event Signals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959352" y="2990088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Registrations, attendance, sentiment, and outcomes rarely form one evidence trail.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66928" y="3657600"/>
            <a:ext cx="248716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822192"/>
            <a:ext cx="384048" cy="384048"/>
          </a:xfrm>
          <a:prstGeom prst="ellipse">
            <a:avLst/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pic>
        <p:nvPicPr>
          <p:cNvPr id="17" name="Image 2" descr="ale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913632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381304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Slow Issue Escalation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61872" y="416052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Urgent concerns can remain hidden until dissatisfaction becomes visible elsewhere.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264408" y="3657600"/>
            <a:ext cx="248716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447288" y="3822192"/>
            <a:ext cx="384048" cy="384048"/>
          </a:xfrm>
          <a:prstGeom prst="ellipse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pic>
        <p:nvPicPr>
          <p:cNvPr id="22" name="Image 3" descr="ch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728" y="3913632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59352" y="3813048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Weak Improvement Evidence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959352" y="416052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Leaders struggle to connect student input to action, ownership, and measurable change.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099048" y="1353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CHALLENGES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117336" y="1719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647688" y="17099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726680" y="17099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Reach quiet as well as highly active students.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647688" y="2148840"/>
            <a:ext cx="4572000" cy="0"/>
          </a:xfrm>
          <a:prstGeom prst="line">
            <a:avLst/>
          </a:prstGeom>
          <a:noFill/>
          <a:ln w="10160">
            <a:solidFill>
              <a:srgbClr val="D8D9D2"/>
            </a:solidFill>
            <a:prstDash val="solid"/>
            <a:headEnd type="none"/>
            <a:tailEnd type="none"/>
          </a:ln>
        </p:spPr>
      </p:sp>
      <p:sp>
        <p:nvSpPr>
          <p:cNvPr id="30" name="Text 24"/>
          <p:cNvSpPr/>
          <p:nvPr/>
        </p:nvSpPr>
        <p:spPr>
          <a:xfrm>
            <a:off x="6117336" y="26334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647688" y="2624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726680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Separate isolated comments from recurring themes.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647688" y="3063240"/>
            <a:ext cx="4572000" cy="0"/>
          </a:xfrm>
          <a:prstGeom prst="line">
            <a:avLst/>
          </a:prstGeom>
          <a:noFill/>
          <a:ln w="10160">
            <a:solidFill>
              <a:srgbClr val="D8D9D2"/>
            </a:solidFill>
            <a:prstDash val="solid"/>
            <a:headEnd type="none"/>
            <a:tailEnd type="none"/>
          </a:ln>
        </p:spPr>
      </p:sp>
      <p:sp>
        <p:nvSpPr>
          <p:cNvPr id="34" name="Text 28"/>
          <p:cNvSpPr/>
          <p:nvPr/>
        </p:nvSpPr>
        <p:spPr>
          <a:xfrm>
            <a:off x="6117336" y="35478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6647688" y="35387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Speed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7726680" y="35387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Surface risks and opportunities while action still matters.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647688" y="3977640"/>
            <a:ext cx="4572000" cy="0"/>
          </a:xfrm>
          <a:prstGeom prst="line">
            <a:avLst/>
          </a:prstGeom>
          <a:noFill/>
          <a:ln w="10160">
            <a:solidFill>
              <a:srgbClr val="D8D9D2"/>
            </a:solidFill>
            <a:prstDash val="solid"/>
            <a:headEnd type="none"/>
            <a:tailEnd type="none"/>
          </a:ln>
        </p:spPr>
      </p:sp>
      <p:sp>
        <p:nvSpPr>
          <p:cNvPr id="38" name="Text 32"/>
          <p:cNvSpPr/>
          <p:nvPr/>
        </p:nvSpPr>
        <p:spPr>
          <a:xfrm>
            <a:off x="6117336" y="44622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6647688" y="4453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Trust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7726680" y="44531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Protect anonymity and explain why a theme is prioritized.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647688" y="4892040"/>
            <a:ext cx="4572000" cy="0"/>
          </a:xfrm>
          <a:prstGeom prst="line">
            <a:avLst/>
          </a:prstGeom>
          <a:noFill/>
          <a:ln w="10160">
            <a:solidFill>
              <a:srgbClr val="D8D9D2"/>
            </a:solidFill>
            <a:prstDash val="solid"/>
            <a:headEnd type="none"/>
            <a:tailEnd type="none"/>
          </a:ln>
        </p:spPr>
      </p:sp>
      <p:sp>
        <p:nvSpPr>
          <p:cNvPr id="42" name="Shape 36"/>
          <p:cNvSpPr/>
          <p:nvPr/>
        </p:nvSpPr>
        <p:spPr>
          <a:xfrm>
            <a:off x="530352" y="5897880"/>
            <a:ext cx="11137392" cy="438912"/>
          </a:xfrm>
          <a:prstGeom prst="roundRect">
            <a:avLst>
              <a:gd name="adj" fmla="val 16667"/>
            </a:avLst>
          </a:prstGeom>
          <a:solidFill>
            <a:srgbClr val="DDEBE5"/>
          </a:solidFill>
          <a:ln w="12700">
            <a:solidFill>
              <a:srgbClr val="DDEBE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04672" y="6007608"/>
            <a:ext cx="10588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Research motivation: Can AI turn continuous student voice and event signals into trusted, timely, and explainable college improvement decisions?</a:t>
            </a:r>
            <a:endParaRPr lang="en-US" sz="10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LITERATURE REVIEW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Research evolution — six foundational works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3319272"/>
            <a:ext cx="10378440" cy="0"/>
          </a:xfrm>
          <a:prstGeom prst="line">
            <a:avLst/>
          </a:prstGeom>
          <a:noFill/>
          <a:ln w="38100">
            <a:solidFill>
              <a:srgbClr val="287D7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33856" y="3008376"/>
            <a:ext cx="621792" cy="621792"/>
          </a:xfrm>
          <a:prstGeom prst="ellipse">
            <a:avLst/>
          </a:prstGeom>
          <a:solidFill>
            <a:srgbClr val="287D73"/>
          </a:solidFill>
          <a:ln w="38100">
            <a:solidFill>
              <a:srgbClr val="F6F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20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7D7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23042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Operational text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mining 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Grönberg et 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35808" y="3008376"/>
            <a:ext cx="621792" cy="621792"/>
          </a:xfrm>
          <a:prstGeom prst="ellipse">
            <a:avLst/>
          </a:prstGeom>
          <a:solidFill>
            <a:srgbClr val="E85D4A"/>
          </a:solidFill>
          <a:ln w="38100">
            <a:solidFill>
              <a:srgbClr val="F6F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3744" y="1920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23744" y="23042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Annotated feedback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dataset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23744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Nilanga et 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3008376"/>
            <a:ext cx="621792" cy="621792"/>
          </a:xfrm>
          <a:prstGeom prst="ellipse">
            <a:avLst/>
          </a:prstGeom>
          <a:solidFill>
            <a:srgbClr val="287D73"/>
          </a:solidFill>
          <a:ln w="38100">
            <a:solidFill>
              <a:srgbClr val="F6F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5696" y="1920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7D7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25696" y="23042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Topic modeling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at scale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25696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Sun &amp; Yan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39712" y="3008376"/>
            <a:ext cx="621792" cy="621792"/>
          </a:xfrm>
          <a:prstGeom prst="ellipse">
            <a:avLst/>
          </a:prstGeom>
          <a:solidFill>
            <a:srgbClr val="E85D4A"/>
          </a:solidFill>
          <a:ln w="38100">
            <a:solidFill>
              <a:srgbClr val="F6F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920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7648" y="23042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 learning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linguistic features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Abdi et 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41664" y="3008376"/>
            <a:ext cx="621792" cy="621792"/>
          </a:xfrm>
          <a:prstGeom prst="ellipse">
            <a:avLst/>
          </a:prstGeom>
          <a:solidFill>
            <a:srgbClr val="287D73"/>
          </a:solidFill>
          <a:ln w="38100">
            <a:solidFill>
              <a:srgbClr val="F6F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920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7D7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23042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Qualitative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quantitative links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Zipser et 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643616" y="3008376"/>
            <a:ext cx="621792" cy="621792"/>
          </a:xfrm>
          <a:prstGeom prst="ellipse">
            <a:avLst/>
          </a:prstGeom>
          <a:solidFill>
            <a:srgbClr val="E85D4A"/>
          </a:solidFill>
          <a:ln w="38100">
            <a:solidFill>
              <a:srgbClr val="F6F4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31552" y="1920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31552" y="230428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Short-text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31552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Kardam &amp; Wilson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" y="4709160"/>
            <a:ext cx="10469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pic>
        <p:nvPicPr>
          <p:cNvPr id="30" name="Image 0" descr="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5029200"/>
            <a:ext cx="329184" cy="3291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691640" y="492861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Four connected research streams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041648" y="4873752"/>
            <a:ext cx="6784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Student participation  •  Feedback text analytics  •  Learning analytics governance  •  Event experience measurement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Papers Reviewed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6473952" cy="4443984"/>
          </a:xfrm>
          <a:prstGeom prst="roundRect">
            <a:avLst>
              <a:gd name="adj" fmla="val 1029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86384" y="15544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YEAR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09344" y="15544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AUTHORS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46704" y="1554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FOCUS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6144768" cy="493776"/>
          </a:xfrm>
          <a:prstGeom prst="rect">
            <a:avLst/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92024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09344" y="19202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Grönberg et al.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46704" y="1920240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Palaute: online text mining for course feedback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6384" y="252374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09344" y="252374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Nilanga et al.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46704" y="2523744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Dataset and baseline for feedback 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3054096"/>
            <a:ext cx="6144768" cy="493776"/>
          </a:xfrm>
          <a:prstGeom prst="rect">
            <a:avLst/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1272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09344" y="31272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Sun &amp; Yan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46704" y="312724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Topic modeling for teaching evaluations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6384" y="373075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09344" y="373075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Abdi et al.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46704" y="3730752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 learning + linguistic knowledge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" y="4261104"/>
            <a:ext cx="6144768" cy="493776"/>
          </a:xfrm>
          <a:prstGeom prst="rect">
            <a:avLst/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33425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09344" y="433425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Zipser et al.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46704" y="433425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Linking comments to instructor ratings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6384" y="49377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09344" y="49377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Kardam &amp; Wilson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46704" y="4937760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Comparing short-text topic models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79208" y="1298448"/>
            <a:ext cx="4279392" cy="4443984"/>
          </a:xfrm>
          <a:prstGeom prst="roundRect">
            <a:avLst>
              <a:gd name="adj" fmla="val 1068"/>
            </a:avLst>
          </a:prstGeom>
          <a:solidFill>
            <a:srgbClr val="173D38"/>
          </a:solidFill>
          <a:ln w="8890">
            <a:solidFill>
              <a:srgbClr val="173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9248" y="16184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OBSERVATION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99248" y="20391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strongest research agrees on one point: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99248" y="258775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8B44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collecting feedback is not enough.</a:t>
            </a:r>
            <a:endParaRPr lang="en-US" sz="2300" dirty="0"/>
          </a:p>
        </p:txBody>
      </p:sp>
      <p:sp>
        <p:nvSpPr>
          <p:cNvPr id="32" name="Shape 30"/>
          <p:cNvSpPr/>
          <p:nvPr/>
        </p:nvSpPr>
        <p:spPr>
          <a:xfrm>
            <a:off x="7708392" y="3319272"/>
            <a:ext cx="237744" cy="237744"/>
          </a:xfrm>
          <a:prstGeom prst="ellipse">
            <a:avLst/>
          </a:prstGeom>
          <a:solidFill>
            <a:srgbClr val="E8B44B"/>
          </a:solidFill>
          <a:ln w="12700">
            <a:solidFill>
              <a:srgbClr val="E8B4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325526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DE8E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Students need visible agency, not survey fatigue.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08392" y="3941064"/>
            <a:ext cx="237744" cy="237744"/>
          </a:xfrm>
          <a:prstGeom prst="ellipse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9872" y="3877056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DE8E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AI can organize open text, but context and ethics matter.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08392" y="4562856"/>
            <a:ext cx="237744" cy="237744"/>
          </a:xfrm>
          <a:prstGeom prst="ellipse">
            <a:avLst/>
          </a:prstGeom>
          <a:solidFill>
            <a:srgbClr val="E8B44B"/>
          </a:solidFill>
          <a:ln w="12700">
            <a:solidFill>
              <a:srgbClr val="E8B4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449884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DE8E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Institutions need a closed loop from insight to action.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0352" y="5916168"/>
            <a:ext cx="11137392" cy="438912"/>
          </a:xfrm>
          <a:prstGeom prst="roundRect">
            <a:avLst>
              <a:gd name="adj" fmla="val 16667"/>
            </a:avLst>
          </a:prstGeom>
          <a:solidFill>
            <a:srgbClr val="DDEBE5"/>
          </a:solidFill>
          <a:ln w="12700">
            <a:solidFill>
              <a:srgbClr val="DDEB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6025896"/>
            <a:ext cx="10588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These recurring findings motivate ProcessMind: continuous listening, evidence fusion, explainable prioritization, and visible follow-through.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LITERATURE REVIEW: PAPERS 1 &amp;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353312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41274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PAPER 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09928" y="135331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09928" y="141274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Palaute: An Online Text Mining Tool for Analyzing Written Student Course Feedback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" y="25328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87D7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Grönberg, Knutas, Hynninen &amp; Hujala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971800"/>
            <a:ext cx="51389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61872" y="312724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3474720"/>
            <a:ext cx="42611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Combines topic modeling with emotion and sentiment analysis in an operational web tool.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767328"/>
            <a:ext cx="51389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61872" y="392277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4270248"/>
            <a:ext cx="42611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Demonstrates real institutional use of unstructured feedback analytics beyond algorithm-only evaluation.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562856"/>
            <a:ext cx="51389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61872" y="4718304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5065776"/>
            <a:ext cx="42611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Evidence comes from one university; portability across institutions still needs validation.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6208" y="1353312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41274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PAPER 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79208" y="135331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9208" y="141274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36208" y="1874520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Dataset and Baseline for Automatic Student Feedback Analysis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5328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Nilanga, Herath, Maduwantha &amp; Ranathunga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36208" y="2971800"/>
            <a:ext cx="51389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5D4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31152" y="312724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31152" y="3474720"/>
            <a:ext cx="42611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Creates an annotated feedback corpus with aspect terms, opinion terms, polarity, and a teaching taxonomy.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36208" y="3767328"/>
            <a:ext cx="51389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5D4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31152" y="392277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31152" y="4270248"/>
            <a:ext cx="42611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Provides reproducible data and labels for aspect-based student feedback analysis.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36208" y="4562856"/>
            <a:ext cx="51389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5D4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931152" y="4718304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31152" y="5065776"/>
            <a:ext cx="42611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3,000-instance, single-institution dataset limits generalization.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0352" y="5916168"/>
            <a:ext cx="11137392" cy="438912"/>
          </a:xfrm>
          <a:prstGeom prst="roundRect">
            <a:avLst>
              <a:gd name="adj" fmla="val 16667"/>
            </a:avLst>
          </a:prstGeom>
          <a:solidFill>
            <a:srgbClr val="DDEBE5"/>
          </a:solidFill>
          <a:ln w="12700">
            <a:solidFill>
              <a:srgbClr val="DDEB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6025896"/>
            <a:ext cx="10588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insight: meaningful student voice requires participation + an analytics cycle that leads to visible action.</a:t>
            </a:r>
            <a:endParaRPr lang="en-US" sz="10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LITERATURE REVIEW: PAPERS 3 &amp; 4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335024"/>
            <a:ext cx="5394960" cy="4517136"/>
          </a:xfrm>
          <a:prstGeom prst="roundRect">
            <a:avLst>
              <a:gd name="adj" fmla="val 1012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5963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PAPER 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65960" y="160020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65963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4622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Using Topic Modeling to Understand Comments in Student Evaluations of Teaching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5694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87D7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Sun &amp; Yan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044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STUDIED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Latent Dirichlet Allocation organizes large-scale teaching-evaluation comments into recurring themes.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1239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IMPORTANT CONTRIBUTION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440740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Validates topic modeling as an efficient complement to manual qualitative coding.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2120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IMPORTANCE TO PROCESSMIND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54864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Supports automated theme discovery while highlighting the need for human interpretability checks.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6208" y="1335024"/>
            <a:ext cx="5413248" cy="4517136"/>
          </a:xfrm>
          <a:prstGeom prst="roundRect">
            <a:avLst>
              <a:gd name="adj" fmla="val 1012"/>
            </a:avLst>
          </a:prstGeom>
          <a:solidFill>
            <a:srgbClr val="173D38"/>
          </a:solidFill>
          <a:ln w="8890">
            <a:solidFill>
              <a:srgbClr val="173D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160020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165963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PAPER 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62672" y="160020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F4E8C7"/>
          </a:solidFill>
          <a:ln w="12700">
            <a:solidFill>
              <a:srgbClr val="F4E8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165963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10528" y="21031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Students Feedback Analysis Using Deep Learning and Linguistic Knowledge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10528" y="2971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B4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Abdi et 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47104" y="3749040"/>
            <a:ext cx="566928" cy="566928"/>
          </a:xfrm>
          <a:prstGeom prst="ellipse">
            <a:avLst/>
          </a:prstGeom>
          <a:solidFill>
            <a:srgbClr val="287D73"/>
          </a:solidFill>
          <a:ln w="19050">
            <a:solidFill>
              <a:srgbClr val="F6F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39136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41464" y="4032504"/>
            <a:ext cx="594360" cy="0"/>
          </a:xfrm>
          <a:prstGeom prst="line">
            <a:avLst/>
          </a:prstGeom>
          <a:noFill/>
          <a:ln w="19050">
            <a:solidFill>
              <a:srgbClr val="E8B44B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6364224" y="44622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Stakeholders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64224" y="47274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D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include students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35824" y="3749040"/>
            <a:ext cx="566928" cy="566928"/>
          </a:xfrm>
          <a:prstGeom prst="ellipse">
            <a:avLst/>
          </a:prstGeom>
          <a:solidFill>
            <a:srgbClr val="E85D4A"/>
          </a:solidFill>
          <a:ln w="19050">
            <a:solidFill>
              <a:srgbClr val="F6F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35824" y="39136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30184" y="4032504"/>
            <a:ext cx="594360" cy="0"/>
          </a:xfrm>
          <a:prstGeom prst="line">
            <a:avLst/>
          </a:prstGeom>
          <a:noFill/>
          <a:ln w="19050">
            <a:solidFill>
              <a:srgbClr val="E8B44B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7552944" y="44622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Policy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52944" y="47274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D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define purpose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924544" y="3749040"/>
            <a:ext cx="566928" cy="566928"/>
          </a:xfrm>
          <a:prstGeom prst="ellipse">
            <a:avLst/>
          </a:prstGeom>
          <a:solidFill>
            <a:srgbClr val="287D73"/>
          </a:solidFill>
          <a:ln w="19050">
            <a:solidFill>
              <a:srgbClr val="F6F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24544" y="39136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18904" y="4032504"/>
            <a:ext cx="594360" cy="0"/>
          </a:xfrm>
          <a:prstGeom prst="line">
            <a:avLst/>
          </a:prstGeom>
          <a:noFill/>
          <a:ln w="19050">
            <a:solidFill>
              <a:srgbClr val="E8B44B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8741664" y="44622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Design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741664" y="47274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D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 safeguards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113264" y="3749040"/>
            <a:ext cx="566928" cy="566928"/>
          </a:xfrm>
          <a:prstGeom prst="ellipse">
            <a:avLst/>
          </a:prstGeom>
          <a:solidFill>
            <a:srgbClr val="E85D4A"/>
          </a:solidFill>
          <a:ln w="19050">
            <a:solidFill>
              <a:srgbClr val="F6F4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13264" y="39136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930384" y="44622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930384" y="47274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8D8D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review impact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10528" y="5321808"/>
            <a:ext cx="4590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E8C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Connection to ProcessMind: advanced models can identify sentiment causes, but deployment, fairness, and multilingual robustness remain open.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30352" y="5916168"/>
            <a:ext cx="11137392" cy="438912"/>
          </a:xfrm>
          <a:prstGeom prst="roundRect">
            <a:avLst>
              <a:gd name="adj" fmla="val 16667"/>
            </a:avLst>
          </a:prstGeom>
          <a:solidFill>
            <a:srgbClr val="DDEBE5"/>
          </a:solidFill>
          <a:ln w="12700">
            <a:solidFill>
              <a:srgbClr val="DDEB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" y="6025896"/>
            <a:ext cx="10588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From text mining to responsible governance: useful insight must also be trusted insight.</a:t>
            </a:r>
            <a:endParaRPr lang="en-US" sz="10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LITERATURE REVIEW: PAPERS 5 &amp; 6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325880"/>
            <a:ext cx="6583680" cy="4535424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5963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PAPER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65960" y="160020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DEAE2"/>
          </a:solidFill>
          <a:ln w="12700">
            <a:solidFill>
              <a:srgbClr val="EDEA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65963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Qualitative Comments + Quantitative Instructor Ratings: A Structural Topic Model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87D7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Zipser, Kurochkin, Yu &amp; Mincieli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60533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755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17904" y="3172968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17904" y="3520440"/>
            <a:ext cx="51755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Structural topic modeling links themes across 286,203 comments with rating and course covariates.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822192"/>
            <a:ext cx="60533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7552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17904" y="3977640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17904" y="4325112"/>
            <a:ext cx="51755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Shows how qualitative themes can be related to quantitative institutional measures at scale.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626864"/>
            <a:ext cx="605332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7552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17904" y="4782312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Strength &amp; limitation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17904" y="5129784"/>
            <a:ext cx="51755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Powerful evidence fusion, but the single-institution, correlational design is not causal.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24928" y="1325880"/>
            <a:ext cx="4224528" cy="4535424"/>
          </a:xfrm>
          <a:prstGeom prst="roundRect">
            <a:avLst>
              <a:gd name="adj" fmla="val 1082"/>
            </a:avLst>
          </a:prstGeom>
          <a:solidFill>
            <a:srgbClr val="173D38"/>
          </a:solidFill>
          <a:ln w="8890">
            <a:solidFill>
              <a:srgbClr val="173D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08392" y="160020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08392" y="165963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PAPER 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869680" y="160020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F4E8C7"/>
          </a:solidFill>
          <a:ln w="12700">
            <a:solidFill>
              <a:srgbClr val="F4E8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165963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08392" y="212140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Comparative Analysis of Topic Modelling Techniques for Student Feedback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708392" y="285292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B4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Kardam &amp; Wilson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08392" y="33832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B4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56448" y="338328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Compare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15984" y="3383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C8D8D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five STTM methods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08392" y="38862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56448" y="388620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Corpus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15984" y="3886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C8D8D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4,600 responses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08392" y="4389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B4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156448" y="43891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Scope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015984" y="4389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C8D8D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40+ engineering courses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08392" y="48920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156448" y="48920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Lesson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15984" y="4892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C8D8D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 choice matters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08392" y="551383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Limitation for ProcessMind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26880" y="5385816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Strong method guidance, but one discipline and institution limit generalization.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0352" y="5916168"/>
            <a:ext cx="11137392" cy="438912"/>
          </a:xfrm>
          <a:prstGeom prst="roundRect">
            <a:avLst>
              <a:gd name="adj" fmla="val 16667"/>
            </a:avLst>
          </a:prstGeom>
          <a:solidFill>
            <a:srgbClr val="DDEBE5"/>
          </a:solidFill>
          <a:ln w="12700">
            <a:solidFill>
              <a:srgbClr val="DDEB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" y="6025896"/>
            <a:ext cx="10588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opportunity: combine theme + sentiment + event context + ownership instead of treating each signal separately.</a:t>
            </a:r>
            <a:endParaRPr lang="en-US" sz="10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COMPARATIVE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Comparison of existing research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344168"/>
            <a:ext cx="2468880" cy="438912"/>
          </a:xfrm>
          <a:prstGeom prst="rect">
            <a:avLst/>
          </a:prstGeom>
          <a:solidFill>
            <a:srgbClr val="173D38"/>
          </a:solidFill>
          <a:ln w="5080">
            <a:solidFill>
              <a:srgbClr val="F6F4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81328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Research stream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35808" y="1344168"/>
            <a:ext cx="2834640" cy="438912"/>
          </a:xfrm>
          <a:prstGeom prst="rect">
            <a:avLst/>
          </a:prstGeom>
          <a:solidFill>
            <a:srgbClr val="173D38"/>
          </a:solidFill>
          <a:ln w="5080">
            <a:solidFill>
              <a:srgbClr val="F6F4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45536" y="148132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Primary approach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70448" y="1344168"/>
            <a:ext cx="2514600" cy="438912"/>
          </a:xfrm>
          <a:prstGeom prst="rect">
            <a:avLst/>
          </a:prstGeom>
          <a:solidFill>
            <a:srgbClr val="173D38"/>
          </a:solidFill>
          <a:ln w="5080">
            <a:solidFill>
              <a:srgbClr val="F6F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0176" y="1481328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Strength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385048" y="1344168"/>
            <a:ext cx="2788920" cy="438912"/>
          </a:xfrm>
          <a:prstGeom prst="rect">
            <a:avLst/>
          </a:prstGeom>
          <a:solidFill>
            <a:srgbClr val="173D38"/>
          </a:solidFill>
          <a:ln w="5080">
            <a:solidFill>
              <a:srgbClr val="F6F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94776" y="1481328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1783080"/>
            <a:ext cx="246888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190195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Student voice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35808" y="1783080"/>
            <a:ext cx="283464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45536" y="190195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Participation and partnership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70448" y="1783080"/>
            <a:ext cx="251460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0176" y="190195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Centers agency and inclusion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85048" y="1783080"/>
            <a:ext cx="278892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94776" y="19019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Hard to scale continuously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2304288"/>
            <a:ext cx="246888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4231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Learning analytics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35808" y="2304288"/>
            <a:ext cx="283464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45536" y="24231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Data → insight → intervention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70448" y="2304288"/>
            <a:ext cx="251460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24231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Connects evidence to decisions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385048" y="2304288"/>
            <a:ext cx="278892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776" y="2423160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Governance and context risks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2825496"/>
            <a:ext cx="246888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29443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Feedback text mining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35808" y="2825496"/>
            <a:ext cx="283464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45536" y="294436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Topics and sentiment from comments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70448" y="2825496"/>
            <a:ext cx="251460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0176" y="2944368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Handles qualitative volume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85048" y="2825496"/>
            <a:ext cx="278892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94776" y="294436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May flatten nuance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3346704"/>
            <a:ext cx="246888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346557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Emotion analytics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35808" y="3346704"/>
            <a:ext cx="283464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45536" y="346557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Sentiment and emotion classification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70448" y="3346704"/>
            <a:ext cx="251460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0176" y="3465576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Fast signal prioritization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85048" y="3346704"/>
            <a:ext cx="2788920" cy="521208"/>
          </a:xfrm>
          <a:prstGeom prst="rect">
            <a:avLst/>
          </a:prstGeom>
          <a:solidFill>
            <a:srgbClr val="FFFFFF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94776" y="3465576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 bias and language limits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928" y="3867912"/>
            <a:ext cx="246888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" y="398678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Event analytics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035808" y="3867912"/>
            <a:ext cx="283464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5536" y="398678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Engagement and outcome signals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70448" y="3867912"/>
            <a:ext cx="251460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80176" y="398678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Adds behavioral context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385048" y="3867912"/>
            <a:ext cx="2788920" cy="521208"/>
          </a:xfrm>
          <a:prstGeom prst="rect">
            <a:avLst/>
          </a:prstGeom>
          <a:solidFill>
            <a:srgbClr val="EDEAE2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94776" y="3986784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Often siloed from feedback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928" y="4389120"/>
            <a:ext cx="2468880" cy="521208"/>
          </a:xfrm>
          <a:prstGeom prst="rect">
            <a:avLst/>
          </a:prstGeom>
          <a:solidFill>
            <a:srgbClr val="DDEBE5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" y="45079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ProcessMind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035808" y="4389120"/>
            <a:ext cx="2834640" cy="521208"/>
          </a:xfrm>
          <a:prstGeom prst="rect">
            <a:avLst/>
          </a:prstGeom>
          <a:solidFill>
            <a:srgbClr val="DDEBE5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45079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Unified voice + event + action loop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870448" y="4389120"/>
            <a:ext cx="2514600" cy="521208"/>
          </a:xfrm>
          <a:prstGeom prst="rect">
            <a:avLst/>
          </a:prstGeom>
          <a:solidFill>
            <a:srgbClr val="DDEBE5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0176" y="450799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Explainable, real-time prioritization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385048" y="4389120"/>
            <a:ext cx="2788920" cy="521208"/>
          </a:xfrm>
          <a:prstGeom prst="rect">
            <a:avLst/>
          </a:prstGeom>
          <a:solidFill>
            <a:srgbClr val="DDEBE5"/>
          </a:solidFill>
          <a:ln w="5715">
            <a:solidFill>
              <a:srgbClr val="D8D9D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94776" y="450799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Needs careful rollout and validation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85216" y="51023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EXISTING RESEARCH DOES WELL</a:t>
            </a:r>
            <a:endParaRPr lang="en-US" sz="900" dirty="0"/>
          </a:p>
        </p:txBody>
      </p:sp>
      <p:pic>
        <p:nvPicPr>
          <p:cNvPr id="61" name="Image 0" descr="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440680"/>
            <a:ext cx="274320" cy="274320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969264" y="54681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Hears more voices</a:t>
            </a:r>
            <a:endParaRPr lang="en-US" sz="1050" dirty="0"/>
          </a:p>
        </p:txBody>
      </p:sp>
      <p:pic>
        <p:nvPicPr>
          <p:cNvPr id="63" name="Image 1" descr="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5440680"/>
            <a:ext cx="274320" cy="274320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2889504" y="54681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Finds patterns</a:t>
            </a:r>
            <a:endParaRPr lang="en-US" sz="1050" dirty="0"/>
          </a:p>
        </p:txBody>
      </p:sp>
      <p:pic>
        <p:nvPicPr>
          <p:cNvPr id="65" name="Image 2" descr="boo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5440680"/>
            <a:ext cx="274320" cy="274320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4809744" y="54681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Builds evidence</a:t>
            </a:r>
            <a:endParaRPr lang="en-US" sz="1050" dirty="0"/>
          </a:p>
        </p:txBody>
      </p:sp>
      <p:sp>
        <p:nvSpPr>
          <p:cNvPr id="67" name="Text 62"/>
          <p:cNvSpPr/>
          <p:nvPr/>
        </p:nvSpPr>
        <p:spPr>
          <a:xfrm>
            <a:off x="6565392" y="51023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REMAINS CHALLENGING</a:t>
            </a:r>
            <a:endParaRPr lang="en-US" sz="900" dirty="0"/>
          </a:p>
        </p:txBody>
      </p:sp>
      <p:pic>
        <p:nvPicPr>
          <p:cNvPr id="68" name="Image 3" descr="ale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440680"/>
            <a:ext cx="274320" cy="274320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6931152" y="5468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Trust &amp; bias</a:t>
            </a:r>
            <a:endParaRPr lang="en-US" sz="1050" dirty="0"/>
          </a:p>
        </p:txBody>
      </p:sp>
      <p:pic>
        <p:nvPicPr>
          <p:cNvPr id="70" name="Image 4" descr="layer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5440680"/>
            <a:ext cx="274320" cy="274320"/>
          </a:xfrm>
          <a:prstGeom prst="rect">
            <a:avLst/>
          </a:prstGeom>
        </p:spPr>
      </p:pic>
      <p:sp>
        <p:nvSpPr>
          <p:cNvPr id="71" name="Text 64"/>
          <p:cNvSpPr/>
          <p:nvPr/>
        </p:nvSpPr>
        <p:spPr>
          <a:xfrm>
            <a:off x="8558784" y="5468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Data silos</a:t>
            </a:r>
            <a:endParaRPr lang="en-US" sz="1050" dirty="0"/>
          </a:p>
        </p:txBody>
      </p:sp>
      <p:pic>
        <p:nvPicPr>
          <p:cNvPr id="72" name="Image 5" descr="refres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8944" y="5440680"/>
            <a:ext cx="274320" cy="274320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10186416" y="5468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Closing the loop</a:t>
            </a:r>
            <a:endParaRPr lang="en-US" sz="1050" dirty="0"/>
          </a:p>
        </p:txBody>
      </p:sp>
      <p:sp>
        <p:nvSpPr>
          <p:cNvPr id="7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COMMON LIMITATIONS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Across the reviewed research, six recurring limitations directly inform ProcessMind’s design.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285232" cy="1097280"/>
          </a:xfrm>
          <a:prstGeom prst="roundRect">
            <a:avLst>
              <a:gd name="adj" fmla="val 5000"/>
            </a:avLst>
          </a:prstGeom>
          <a:solidFill>
            <a:srgbClr val="DCECE8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824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2300" dirty="0"/>
          </a:p>
        </p:txBody>
      </p:sp>
      <p:pic>
        <p:nvPicPr>
          <p:cNvPr id="6" name="Image 0" descr="us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6642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645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Representation Bias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0" y="19842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Voluntary feedback overrepresents highly engaged or dissatisfied students.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63056" y="1481328"/>
            <a:ext cx="5285232" cy="1097280"/>
          </a:xfrm>
          <a:prstGeom prst="roundRect">
            <a:avLst>
              <a:gd name="adj" fmla="val 5000"/>
            </a:avLst>
          </a:prstGeom>
          <a:solidFill>
            <a:srgbClr val="F7DDD7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64224" y="16824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85D4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2300" dirty="0"/>
          </a:p>
        </p:txBody>
      </p:sp>
      <p:pic>
        <p:nvPicPr>
          <p:cNvPr id="11" name="Image 1" descr="refres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166420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4928" y="1645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Survey Fatigue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24928" y="19842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Repeated forms reduce response quality and long-term participation.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6928" y="2834640"/>
            <a:ext cx="5285232" cy="1097280"/>
          </a:xfrm>
          <a:prstGeom prst="roundRect">
            <a:avLst>
              <a:gd name="adj" fmla="val 5000"/>
            </a:avLst>
          </a:prstGeom>
          <a:solidFill>
            <a:srgbClr val="F4E8C7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68096" y="3035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2300" dirty="0"/>
          </a:p>
        </p:txBody>
      </p:sp>
      <p:pic>
        <p:nvPicPr>
          <p:cNvPr id="16" name="Image 2" descr="m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888" y="301752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29992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Loss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828800" y="3337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Sentiment labels alone do not explain where, when, or why an issue occurred.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63056" y="2834640"/>
            <a:ext cx="5285232" cy="1097280"/>
          </a:xfrm>
          <a:prstGeom prst="roundRect">
            <a:avLst>
              <a:gd name="adj" fmla="val 5000"/>
            </a:avLst>
          </a:prstGeom>
          <a:solidFill>
            <a:srgbClr val="DCECE8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64224" y="3035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85D4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2300" dirty="0"/>
          </a:p>
        </p:txBody>
      </p:sp>
      <p:pic>
        <p:nvPicPr>
          <p:cNvPr id="21" name="Image 3" descr="lay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016" y="301752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4928" y="29992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Data Silos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24928" y="3337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Feedback, attendance, outcomes, and ownership live in separate systems.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66928" y="4187952"/>
            <a:ext cx="5285232" cy="1097280"/>
          </a:xfrm>
          <a:prstGeom prst="roundRect">
            <a:avLst>
              <a:gd name="adj" fmla="val 5000"/>
            </a:avLst>
          </a:prstGeom>
          <a:solidFill>
            <a:srgbClr val="F7DDD7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68096" y="4389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2300" dirty="0"/>
          </a:p>
        </p:txBody>
      </p:sp>
      <p:pic>
        <p:nvPicPr>
          <p:cNvPr id="26" name="Image 4" descr="c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9888" y="437083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43525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Delayed Action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828800" y="469087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Semester-end reports arrive too late to improve the current experience.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63056" y="4187952"/>
            <a:ext cx="5285232" cy="1097280"/>
          </a:xfrm>
          <a:prstGeom prst="roundRect">
            <a:avLst>
              <a:gd name="adj" fmla="val 5000"/>
            </a:avLst>
          </a:prstGeom>
          <a:solidFill>
            <a:srgbClr val="F4E8C7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364224" y="4389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85D4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2300" dirty="0"/>
          </a:p>
        </p:txBody>
      </p:sp>
      <p:pic>
        <p:nvPicPr>
          <p:cNvPr id="31" name="Image 5" descr="ey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437083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24928" y="43525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Opaque Prioritization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424928" y="469087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Black-box scores weaken trust when leaders cannot see supporting evidence.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30352" y="5916168"/>
            <a:ext cx="11137392" cy="438912"/>
          </a:xfrm>
          <a:prstGeom prst="roundRect">
            <a:avLst>
              <a:gd name="adj" fmla="val 16667"/>
            </a:avLst>
          </a:prstGeom>
          <a:solidFill>
            <a:srgbClr val="DDEBE5"/>
          </a:solidFill>
          <a:ln w="12700">
            <a:solidFill>
              <a:srgbClr val="DDEBE5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04672" y="6025896"/>
            <a:ext cx="10588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Main observation: accurate classification alone is not enough—campus intelligence must be inclusive, contextual, timely, and actionable.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 GAP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GAP ANALYSIS: EXISTING RESEARCH VS. PRACTICAL NEED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75888" y="1700784"/>
            <a:ext cx="2944368" cy="457200"/>
          </a:xfrm>
          <a:prstGeom prst="roundRect">
            <a:avLst>
              <a:gd name="adj" fmla="val 8000"/>
            </a:avLst>
          </a:prstGeom>
          <a:solidFill>
            <a:srgbClr val="DDEBE5"/>
          </a:solidFill>
          <a:ln w="8890">
            <a:solidFill>
              <a:srgbClr val="DDEB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3794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Periodic surveys</a:t>
            </a:r>
            <a:endParaRPr lang="en-US" sz="1050" dirty="0"/>
          </a:p>
        </p:txBody>
      </p:sp>
      <p:pic>
        <p:nvPicPr>
          <p:cNvPr id="7" name="Image 0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828800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0" y="183794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Continuous, low-friction listening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2304288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75888" y="2304288"/>
            <a:ext cx="2944368" cy="457200"/>
          </a:xfrm>
          <a:prstGeom prst="roundRect">
            <a:avLst>
              <a:gd name="adj" fmla="val 8000"/>
            </a:avLst>
          </a:prstGeom>
          <a:solidFill>
            <a:srgbClr val="DDEBE5"/>
          </a:solidFill>
          <a:ln w="8890">
            <a:solidFill>
              <a:srgbClr val="DDEB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4414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Sentiment only</a:t>
            </a:r>
            <a:endParaRPr lang="en-US" sz="1050" dirty="0"/>
          </a:p>
        </p:txBody>
      </p:sp>
      <p:pic>
        <p:nvPicPr>
          <p:cNvPr id="12" name="Image 1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43230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2441448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Theme + urgency + context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6928" y="2907792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75888" y="2907792"/>
            <a:ext cx="2944368" cy="457200"/>
          </a:xfrm>
          <a:prstGeom prst="roundRect">
            <a:avLst>
              <a:gd name="adj" fmla="val 8000"/>
            </a:avLst>
          </a:prstGeom>
          <a:solidFill>
            <a:srgbClr val="DDEBE5"/>
          </a:solidFill>
          <a:ln w="8890">
            <a:solidFill>
              <a:srgbClr val="DDEB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304495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Feedback silos</a:t>
            </a:r>
            <a:endParaRPr lang="en-US" sz="1050" dirty="0"/>
          </a:p>
        </p:txBody>
      </p:sp>
      <p:pic>
        <p:nvPicPr>
          <p:cNvPr id="17" name="Image 2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035808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40480" y="3044952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Voice + events + outcomes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66928" y="3511296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675888" y="3511296"/>
            <a:ext cx="2944368" cy="457200"/>
          </a:xfrm>
          <a:prstGeom prst="roundRect">
            <a:avLst>
              <a:gd name="adj" fmla="val 8000"/>
            </a:avLst>
          </a:prstGeom>
          <a:solidFill>
            <a:srgbClr val="DDEBE5"/>
          </a:solidFill>
          <a:ln w="8890">
            <a:solidFill>
              <a:srgbClr val="DDEBE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1520" y="364845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Generic dashboards</a:t>
            </a:r>
            <a:endParaRPr lang="en-US" sz="1050" dirty="0"/>
          </a:p>
        </p:txBody>
      </p:sp>
      <p:pic>
        <p:nvPicPr>
          <p:cNvPr id="22" name="Image 3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639312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40480" y="3648456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Role-based decision views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66928" y="411480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675888" y="4114800"/>
            <a:ext cx="2944368" cy="457200"/>
          </a:xfrm>
          <a:prstGeom prst="roundRect">
            <a:avLst>
              <a:gd name="adj" fmla="val 8000"/>
            </a:avLst>
          </a:prstGeom>
          <a:solidFill>
            <a:srgbClr val="DDEBE5"/>
          </a:solidFill>
          <a:ln w="8890">
            <a:solidFill>
              <a:srgbClr val="DDEBE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1520" y="425196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Anonymous reports</a:t>
            </a:r>
            <a:endParaRPr lang="en-US" sz="1050" dirty="0"/>
          </a:p>
        </p:txBody>
      </p:sp>
      <p:pic>
        <p:nvPicPr>
          <p:cNvPr id="27" name="Image 4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242816"/>
            <a:ext cx="210312" cy="2103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425196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Privacy-preserving evidence trails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66928" y="4718304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675888" y="4718304"/>
            <a:ext cx="2944368" cy="457200"/>
          </a:xfrm>
          <a:prstGeom prst="roundRect">
            <a:avLst>
              <a:gd name="adj" fmla="val 8000"/>
            </a:avLst>
          </a:prstGeom>
          <a:solidFill>
            <a:srgbClr val="DDEBE5"/>
          </a:solidFill>
          <a:ln w="8890">
            <a:solidFill>
              <a:srgbClr val="DDEBE5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31520" y="485546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Insight delivery</a:t>
            </a:r>
            <a:endParaRPr lang="en-US" sz="1050" dirty="0"/>
          </a:p>
        </p:txBody>
      </p:sp>
      <p:pic>
        <p:nvPicPr>
          <p:cNvPr id="32" name="Image 5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846320"/>
            <a:ext cx="210312" cy="2103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840480" y="485546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Action ownership + closure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7013448" y="1325880"/>
            <a:ext cx="4645152" cy="4434840"/>
          </a:xfrm>
          <a:prstGeom prst="roundRect">
            <a:avLst>
              <a:gd name="adj" fmla="val 1031"/>
            </a:avLst>
          </a:prstGeom>
          <a:solidFill>
            <a:srgbClr val="173D38"/>
          </a:solidFill>
          <a:ln w="8890">
            <a:solidFill>
              <a:srgbClr val="173D38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315200" y="1627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RESEARCH GAP IDENTIFIED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315200" y="2011680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Existing tools often optimize one step.</a:t>
            </a:r>
            <a:endParaRPr lang="en-US" sz="1600" dirty="0"/>
          </a:p>
        </p:txBody>
      </p:sp>
      <p:sp>
        <p:nvSpPr>
          <p:cNvPr id="37" name="Shape 29"/>
          <p:cNvSpPr/>
          <p:nvPr/>
        </p:nvSpPr>
        <p:spPr>
          <a:xfrm>
            <a:off x="7333488" y="2578608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7333488" y="2638044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collect feedback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9162288" y="2578608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9162288" y="2638044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classify sentiment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7333488" y="3072384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7333488" y="3131820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report attendance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9162288" y="3072384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9162288" y="3131820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display dashboards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7315200" y="3767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E8B44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PROCESSMIND FOCUS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7315200" y="413308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LISTEN + CONNECT + EXPLAIN + ACT</a:t>
            </a:r>
            <a:endParaRPr lang="en-US" sz="2000" dirty="0"/>
          </a:p>
        </p:txBody>
      </p:sp>
      <p:sp>
        <p:nvSpPr>
          <p:cNvPr id="47" name="Text 39"/>
          <p:cNvSpPr/>
          <p:nvPr/>
        </p:nvSpPr>
        <p:spPr>
          <a:xfrm>
            <a:off x="7315200" y="47365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8D8D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single improvement loop that turns student voice and event intelligence into prioritized actions, accountable owners, and visible outcomes.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530352" y="5916168"/>
            <a:ext cx="11137392" cy="438912"/>
          </a:xfrm>
          <a:prstGeom prst="roundRect">
            <a:avLst>
              <a:gd name="adj" fmla="val 16667"/>
            </a:avLst>
          </a:prstGeom>
          <a:solidFill>
            <a:srgbClr val="DDEBE5"/>
          </a:solidFill>
          <a:ln w="12700">
            <a:solidFill>
              <a:srgbClr val="DDEBE5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804672" y="6025896"/>
            <a:ext cx="10588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Practical gap: colleges need one trusted platform that links what students say, what happens, what leaders do, and whether conditions improve.</a:t>
            </a:r>
            <a:endParaRPr lang="en-US" sz="10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HOW PROCESSMIND ADDRESSES THE GAP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344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IMPROVEMENT PIPELINE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24128" y="2606040"/>
            <a:ext cx="10058400" cy="0"/>
          </a:xfrm>
          <a:prstGeom prst="line">
            <a:avLst/>
          </a:prstGeom>
          <a:noFill/>
          <a:ln w="50800">
            <a:solidFill>
              <a:srgbClr val="D8D9D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94360" y="2176272"/>
            <a:ext cx="859536" cy="859536"/>
          </a:xfrm>
          <a:prstGeom prst="ellipse">
            <a:avLst/>
          </a:prstGeom>
          <a:solidFill>
            <a:srgbClr val="173D38"/>
          </a:solidFill>
          <a:ln w="38100">
            <a:solidFill>
              <a:srgbClr val="F6F4EE"/>
            </a:solidFill>
            <a:prstDash val="solid"/>
          </a:ln>
        </p:spPr>
      </p:sp>
      <p:pic>
        <p:nvPicPr>
          <p:cNvPr id="6" name="Image 0" descr="m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4414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1847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9768" y="32278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5387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Voice + pulse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2176272"/>
            <a:ext cx="859536" cy="859536"/>
          </a:xfrm>
          <a:prstGeom prst="ellipse">
            <a:avLst/>
          </a:prstGeom>
          <a:solidFill>
            <a:srgbClr val="173D38"/>
          </a:solidFill>
          <a:ln w="38100">
            <a:solidFill>
              <a:srgbClr val="F6F4EE"/>
            </a:solidFill>
            <a:prstDash val="solid"/>
          </a:ln>
        </p:spPr>
      </p:sp>
      <p:pic>
        <p:nvPicPr>
          <p:cNvPr id="11" name="Image 1" descr="mer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24414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9464" y="1847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304288" y="32278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Connect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240280" y="35387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Events + context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343400" y="2176272"/>
            <a:ext cx="859536" cy="859536"/>
          </a:xfrm>
          <a:prstGeom prst="ellipse">
            <a:avLst/>
          </a:prstGeom>
          <a:solidFill>
            <a:srgbClr val="173D38"/>
          </a:solidFill>
          <a:ln w="38100">
            <a:solidFill>
              <a:srgbClr val="F6F4EE"/>
            </a:solidFill>
            <a:prstDash val="solid"/>
          </a:ln>
        </p:spPr>
      </p:sp>
      <p:pic>
        <p:nvPicPr>
          <p:cNvPr id="16" name="Image 2" descr="sear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24414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43984" y="1847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178808" y="32278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114800" y="35387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Themes + sentiment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217920" y="2176272"/>
            <a:ext cx="859536" cy="859536"/>
          </a:xfrm>
          <a:prstGeom prst="ellipse">
            <a:avLst/>
          </a:prstGeom>
          <a:solidFill>
            <a:srgbClr val="173D38"/>
          </a:solidFill>
          <a:ln w="38100">
            <a:solidFill>
              <a:srgbClr val="F6F4EE"/>
            </a:solidFill>
            <a:prstDash val="solid"/>
          </a:ln>
        </p:spPr>
      </p:sp>
      <p:pic>
        <p:nvPicPr>
          <p:cNvPr id="21" name="Image 3" descr="targe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24414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18504" y="1847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053328" y="32278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Prioritize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989320" y="35387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Urgency + reach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8092440" y="2176272"/>
            <a:ext cx="859536" cy="859536"/>
          </a:xfrm>
          <a:prstGeom prst="ellipse">
            <a:avLst/>
          </a:prstGeom>
          <a:solidFill>
            <a:srgbClr val="173D38"/>
          </a:solidFill>
          <a:ln w="38100">
            <a:solidFill>
              <a:srgbClr val="F6F4EE"/>
            </a:solidFill>
            <a:prstDash val="solid"/>
          </a:ln>
        </p:spPr>
      </p:sp>
      <p:pic>
        <p:nvPicPr>
          <p:cNvPr id="26" name="Image 4" descr="sen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616" y="244144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93024" y="1847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7927848" y="32278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863840" y="35387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Owner + workflow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9966960" y="2176272"/>
            <a:ext cx="859536" cy="859536"/>
          </a:xfrm>
          <a:prstGeom prst="ellipse">
            <a:avLst/>
          </a:prstGeom>
          <a:solidFill>
            <a:srgbClr val="E85D4A"/>
          </a:solidFill>
          <a:ln w="38100">
            <a:solidFill>
              <a:srgbClr val="F6F4EE"/>
            </a:solidFill>
            <a:prstDash val="solid"/>
          </a:ln>
        </p:spPr>
      </p:sp>
      <p:pic>
        <p:nvPicPr>
          <p:cNvPr id="31" name="Image 5" descr="tren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2136" y="244144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67544" y="1847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9802368" y="32278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Measure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9738360" y="35387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Outcome + closure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566928" y="4251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PROJECT SCOPE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566928" y="4572000"/>
            <a:ext cx="5376672" cy="941832"/>
          </a:xfrm>
          <a:prstGeom prst="roundRect">
            <a:avLst>
              <a:gd name="adj" fmla="val 4854"/>
            </a:avLst>
          </a:prstGeom>
          <a:solidFill>
            <a:srgbClr val="DDEBE5"/>
          </a:solidFill>
          <a:ln w="8890">
            <a:solidFill>
              <a:srgbClr val="DDEBE5"/>
            </a:solidFill>
            <a:prstDash val="solid"/>
          </a:ln>
        </p:spPr>
      </p:sp>
      <p:pic>
        <p:nvPicPr>
          <p:cNvPr id="37" name="Image 6" descr="chec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855464"/>
            <a:ext cx="310896" cy="31089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298448" y="47457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87D7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 SCOPE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2286000" y="4690872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Feedback capture, event intelligence, explainable prioritization, action tracking, and outcome evidence.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6236208" y="4572000"/>
            <a:ext cx="5413248" cy="941832"/>
          </a:xfrm>
          <a:prstGeom prst="roundRect">
            <a:avLst>
              <a:gd name="adj" fmla="val 4854"/>
            </a:avLst>
          </a:prstGeom>
          <a:solidFill>
            <a:srgbClr val="F7DDD7"/>
          </a:solidFill>
          <a:ln w="8890">
            <a:solidFill>
              <a:srgbClr val="F7DDD7"/>
            </a:solidFill>
            <a:prstDash val="solid"/>
          </a:ln>
        </p:spPr>
      </p:sp>
      <p:pic>
        <p:nvPicPr>
          <p:cNvPr id="41" name="Image 7" descr="aler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4855464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67728" y="47457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 OF SCOPE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8183880" y="468172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Replacing human judgment or making disciplinary decisions automatically. ProcessMind supports—not substitutes—college leadership.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530352" y="5916168"/>
            <a:ext cx="11137392" cy="438912"/>
          </a:xfrm>
          <a:prstGeom prst="roundRect">
            <a:avLst>
              <a:gd name="adj" fmla="val 16667"/>
            </a:avLst>
          </a:prstGeom>
          <a:solidFill>
            <a:srgbClr val="DDEBE5"/>
          </a:solidFill>
          <a:ln w="12700">
            <a:solidFill>
              <a:srgbClr val="DDEBE5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804672" y="6025896"/>
            <a:ext cx="10588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Listen → Connect → Understand → Prioritize → Act → Measure</a:t>
            </a:r>
            <a:endParaRPr lang="en-US" sz="10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LITERATURE REVIEW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773936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research establishes four foundations for ProcessMind: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504" y="23500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87D7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3500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Voice must create agency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47872" y="2350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Students engage when participation influences decisions.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" y="30815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0815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AI unlocks qualitative scale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7872" y="30815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Topic, sentiment, and emotion models make open text manageable.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" y="38130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87D7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8130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changes meaning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38130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Event, course, timing, and cohort signals improve interpretation.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3504" y="4544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5445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Trust requires governance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47872" y="4544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Privacy, explanation, and visible follow-through are core design requirements.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1353312"/>
            <a:ext cx="5458968" cy="4462272"/>
          </a:xfrm>
          <a:prstGeom prst="roundRect">
            <a:avLst>
              <a:gd name="adj" fmla="val 1025"/>
            </a:avLst>
          </a:prstGeom>
          <a:solidFill>
            <a:srgbClr val="173D38"/>
          </a:solidFill>
          <a:ln w="8890">
            <a:solidFill>
              <a:srgbClr val="173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7556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E85D4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PROCESSMIND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267712"/>
            <a:ext cx="4224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From listening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 learning.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6583680" y="3694176"/>
            <a:ext cx="4187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3E1D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ProcessMind unifies student voice, event intelligence, and improvement workflows so colleges can detect recurring needs, explain priorities, assign accountable action, and demonstrate change.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0" y="5093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1526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VOICE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35240" y="50932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515264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887968" y="509320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87968" y="515264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985248" y="509320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B44B"/>
          </a:solidFill>
          <a:ln w="12700">
            <a:solidFill>
              <a:srgbClr val="E8B4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85248" y="515264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IMPACT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0352" y="5916168"/>
            <a:ext cx="11137392" cy="438912"/>
          </a:xfrm>
          <a:prstGeom prst="roundRect">
            <a:avLst>
              <a:gd name="adj" fmla="val 16667"/>
            </a:avLst>
          </a:prstGeom>
          <a:solidFill>
            <a:srgbClr val="DDEBE5"/>
          </a:solidFill>
          <a:ln w="12700">
            <a:solidFill>
              <a:srgbClr val="DDEB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6025896"/>
            <a:ext cx="10588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ProcessMind’s value is not another dashboard—it is a transparent institutional improvement loop.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126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D3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Future Work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52852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8096" y="15361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89888" y="1545336"/>
            <a:ext cx="438912" cy="438912"/>
          </a:xfrm>
          <a:prstGeom prst="ellipse">
            <a:avLst/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pic>
        <p:nvPicPr>
          <p:cNvPr id="6" name="Image 0" descr="glob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16550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Multilingual &amp; Inclusive Voice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011680" y="19019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Expand support for regional languages, accessibility needs, and low-response groups.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63056" y="1371600"/>
            <a:ext cx="52852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64224" y="15361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5D4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986016" y="1545336"/>
            <a:ext cx="438912" cy="438912"/>
          </a:xfrm>
          <a:prstGeom prst="ellipse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pic>
        <p:nvPicPr>
          <p:cNvPr id="12" name="Image 1" descr="shiel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16550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07808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Fairness &amp; Drift Monitoring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607808" y="19019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Audit theme, sentiment, and priority models across cohorts and over time.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66928" y="2788920"/>
            <a:ext cx="52852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68096" y="29535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1389888" y="2962656"/>
            <a:ext cx="438912" cy="438912"/>
          </a:xfrm>
          <a:prstGeom prst="ellipse">
            <a:avLst/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pic>
        <p:nvPicPr>
          <p:cNvPr id="18" name="Image 2" descr="calend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30723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11680" y="29535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Event Outcome Intelligence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011680" y="33192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Link promotion, registration, attendance, satisfaction, and follow-up action.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63056" y="2788920"/>
            <a:ext cx="52852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364224" y="29535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5D4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6986016" y="2962656"/>
            <a:ext cx="438912" cy="438912"/>
          </a:xfrm>
          <a:prstGeom prst="ellipse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pic>
        <p:nvPicPr>
          <p:cNvPr id="24" name="Image 3" descr="tren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07238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07808" y="29535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Predictive Improvement Signals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607808" y="33192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Identify emerging risks while keeping every forecast explainable.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66928" y="4206240"/>
            <a:ext cx="52852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68096" y="43708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7D7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1389888" y="4379976"/>
            <a:ext cx="438912" cy="438912"/>
          </a:xfrm>
          <a:prstGeom prst="ellipse">
            <a:avLst/>
          </a:prstGeom>
          <a:solidFill>
            <a:srgbClr val="287D73"/>
          </a:solidFill>
          <a:ln w="12700">
            <a:solidFill>
              <a:srgbClr val="287D73"/>
            </a:solidFill>
            <a:prstDash val="solid"/>
          </a:ln>
        </p:spPr>
      </p:sp>
      <p:pic>
        <p:nvPicPr>
          <p:cNvPr id="30" name="Image 4" descr="mer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4489704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011680" y="43708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Deeper Workflow Integrations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2011680" y="47365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Connect college communication, academic, and service-management systems.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163056" y="4206240"/>
            <a:ext cx="5285232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8890">
            <a:solidFill>
              <a:srgbClr val="D8D9D2"/>
            </a:solidFill>
            <a:prstDash val="solid"/>
          </a:ln>
          <a:effectLst>
            <a:outerShdw blurRad="25400" dist="50800" dir="2700000" algn="bl" rotWithShape="0">
              <a:srgbClr val="173D38">
                <a:alpha val="10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6364224" y="43708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5D4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Shape 28"/>
          <p:cNvSpPr/>
          <p:nvPr/>
        </p:nvSpPr>
        <p:spPr>
          <a:xfrm>
            <a:off x="6986016" y="4379976"/>
            <a:ext cx="438912" cy="438912"/>
          </a:xfrm>
          <a:prstGeom prst="ellipse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pic>
        <p:nvPicPr>
          <p:cNvPr id="36" name="Image 5" descr="databa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5744" y="4489704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607808" y="43708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Cross-College Benchmarking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7607808" y="47365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56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Enable privacy-preserving comparison across departments and institutions.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30352" y="5916168"/>
            <a:ext cx="11137392" cy="438912"/>
          </a:xfrm>
          <a:prstGeom prst="roundRect">
            <a:avLst>
              <a:gd name="adj" fmla="val 16667"/>
            </a:avLst>
          </a:prstGeom>
          <a:solidFill>
            <a:srgbClr val="DDEBE5"/>
          </a:solidFill>
          <a:ln w="12700">
            <a:solidFill>
              <a:srgbClr val="DDEBE5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04672" y="6025896"/>
            <a:ext cx="10588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D3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Next milestone: validate the complete closed loop with students, faculty, event teams, and college leadership.</a:t>
            </a:r>
            <a:endParaRPr lang="en-US" sz="10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A858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1602</Words>
  <Application>Microsoft Office PowerPoint</Application>
  <PresentationFormat>Widescreen</PresentationFormat>
  <Paragraphs>365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DejaVu Sans</vt:lpstr>
      <vt:lpstr>Liberation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ProcessMind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ProcessMind — Review 2</dc:title>
  <dc:subject>AI-Powered Student Voice, Event Intelligence &amp; College Improvement Platform</dc:subject>
  <dc:creator>ProcessMind Project Team</dc:creator>
  <cp:lastModifiedBy>Vineeth Reddy</cp:lastModifiedBy>
  <cp:revision>2</cp:revision>
  <dcterms:created xsi:type="dcterms:W3CDTF">2026-09-16T16:35:48Z</dcterms:created>
  <dcterms:modified xsi:type="dcterms:W3CDTF">2026-09-17T00:13:15Z</dcterms:modified>
</cp:coreProperties>
</file>