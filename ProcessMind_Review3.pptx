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86DD21-07BE-5B0B-B355-673DD0F07EA8}">
          <p14:sldIdLst>
            <p14:sldId id="256"/>
            <p14:sldId id="257"/>
            <p14:sldId id="258"/>
            <p14:sldId id="259"/>
          </p14:sldIdLst>
        </p14:section>
        <p14:section name="Technology" id="{0A365382-BAD7-6A47-F331-7356656A5522}">
          <p14:sldIdLst>
            <p14:sldId id="260"/>
            <p14:sldId id="261"/>
            <p14:sldId id="262"/>
            <p14:sldId id="263"/>
          </p14:sldIdLst>
        </p14:section>
        <p14:section name="Results" id="{4AEB9A7B-2216-F4C6-2159-F106B5D9C834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523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1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Review 4 presentation for ProcessMind, our AI-powered student feedback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simple topics: the problem, the flow, the web technologies, AI, OS concepts, and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Colleges already collect feedback. The challenge is understanding it at scale. ProcessMind adds the analysis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easy steps from a student's voice to a real improvement on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is a React single-page app built with Vite. npm run dev from the repo root starts it on port 5173.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and database follow our proposal: FastAPI with PostgreSQL. Confirm which parts are already connected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reads each comment and tags it. Example shown uses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our OSSP subject connects with the project: queues, priority scheduling, threads and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site at localhost:5173 and walk through these four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benefits the platform brings to students, admins and the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what we achieved and where the project can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ProcessMind  |  OSSP Review 4  |  KL University, Aziznagar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31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1"/>
          <p:cNvSpPr/>
          <p:nvPr/>
        </p:nvSpPr>
        <p:spPr>
          <a:xfrm>
            <a:off x="-1188720" y="3200400"/>
            <a:ext cx="3474720" cy="34747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Decor circle 2"/>
          <p:cNvSpPr/>
          <p:nvPr/>
        </p:nvSpPr>
        <p:spPr>
          <a:xfrm>
            <a:off x="3931920" y="-1371600"/>
            <a:ext cx="2743200" cy="274320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OSSP PROJECT  •  REVIEW 3  •  2026–27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ProcessMind</a:t>
            </a:r>
            <a:endParaRPr lang="en-US" sz="48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AI-Powered Student Voice, Event Intelligence &amp; College Improvement Platform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KL University, Aziznagar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8" name="Team card tint"/>
          <p:cNvSpPr/>
          <p:nvPr/>
        </p:nvSpPr>
        <p:spPr>
          <a:xfrm>
            <a:off x="5760720" y="640080"/>
            <a:ext cx="2926080" cy="3840480"/>
          </a:xfrm>
          <a:prstGeom prst="roundRect">
            <a:avLst>
              <a:gd name="adj" fmla="val 3750"/>
            </a:avLst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TEAM G-15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Priyanka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45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2510030540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Rishith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2510030182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B. Vineeth Reddy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2510030240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Fardan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2510030263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Alpansh Sharma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032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2510030356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3" name="Agenda card 1"/>
          <p:cNvSpPr/>
          <p:nvPr/>
        </p:nvSpPr>
        <p:spPr>
          <a:xfrm>
            <a:off x="45720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Agenda 1 circle"/>
          <p:cNvSpPr/>
          <p:nvPr/>
        </p:nvSpPr>
        <p:spPr>
          <a:xfrm>
            <a:off x="662940" y="144018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AlertCirc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887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 &amp; Solution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Why we built it</a:t>
            </a:r>
            <a:endParaRPr lang="en-US" sz="1200" dirty="0"/>
          </a:p>
        </p:txBody>
      </p:sp>
      <p:sp>
        <p:nvSpPr>
          <p:cNvPr id="9" name="Agenda card 2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0" name="Agenda 2 circle"/>
          <p:cNvSpPr/>
          <p:nvPr/>
        </p:nvSpPr>
        <p:spPr>
          <a:xfrm>
            <a:off x="3497580" y="14401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GitBran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5887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Student to action</a:t>
            </a:r>
            <a:endParaRPr lang="en-US" sz="1200" dirty="0"/>
          </a:p>
        </p:txBody>
      </p:sp>
      <p:sp>
        <p:nvSpPr>
          <p:cNvPr id="15" name="Agenda card 3"/>
          <p:cNvSpPr/>
          <p:nvPr/>
        </p:nvSpPr>
        <p:spPr>
          <a:xfrm>
            <a:off x="612648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6" name="Agenda 3 circle"/>
          <p:cNvSpPr/>
          <p:nvPr/>
        </p:nvSpPr>
        <p:spPr>
          <a:xfrm>
            <a:off x="6332220" y="14401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Monito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15887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Web Technologies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Tools behind the site</a:t>
            </a:r>
            <a:endParaRPr lang="en-US" sz="1200" dirty="0"/>
          </a:p>
        </p:txBody>
      </p:sp>
      <p:sp>
        <p:nvSpPr>
          <p:cNvPr id="21" name="Agenda card 4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2" name="Agenda 4 circle"/>
          <p:cNvSpPr/>
          <p:nvPr/>
        </p:nvSpPr>
        <p:spPr>
          <a:xfrm>
            <a:off x="662940" y="31318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Cpu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" y="32804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2860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&amp; ML Basics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feedback is understood</a:t>
            </a:r>
            <a:endParaRPr lang="en-US" sz="1200" dirty="0"/>
          </a:p>
        </p:txBody>
      </p:sp>
      <p:sp>
        <p:nvSpPr>
          <p:cNvPr id="27" name="Agenda card 5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8" name="Agenda 5 circle"/>
          <p:cNvSpPr/>
          <p:nvPr/>
        </p:nvSpPr>
        <p:spPr>
          <a:xfrm>
            <a:off x="3497580" y="31318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mage 4" descr="Layer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170" y="3280410"/>
            <a:ext cx="297180" cy="2971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206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3520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OS Concepts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352044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Queues, scheduling, threads</a:t>
            </a:r>
            <a:endParaRPr lang="en-US" sz="1200" dirty="0"/>
          </a:p>
        </p:txBody>
      </p:sp>
      <p:sp>
        <p:nvSpPr>
          <p:cNvPr id="33" name="Agenda card 6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34" name="Agenda 6 circle"/>
          <p:cNvSpPr/>
          <p:nvPr/>
        </p:nvSpPr>
        <p:spPr>
          <a:xfrm>
            <a:off x="6332220" y="31318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5" name="Image 5" descr="Play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810" y="3280410"/>
            <a:ext cx="297180" cy="2971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95528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tx2"/>
                </a:solidFill>
              </a:rPr>
              <a:t>06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63550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Demo &amp; Outcomes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635508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What the site delivers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Solution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7490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Problem circle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AlertCirc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Colleges collect a lot of feedback, but reading it manually is slow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Repeated issues can go unnoticed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Forms collect answers but do not explain them</a:t>
            </a:r>
            <a:endParaRPr lang="en-US" sz="1400" dirty="0"/>
          </a:p>
        </p:txBody>
      </p:sp>
      <p:sp>
        <p:nvSpPr>
          <p:cNvPr id="8" name="Solution card"/>
          <p:cNvSpPr/>
          <p:nvPr/>
        </p:nvSpPr>
        <p:spPr>
          <a:xfrm>
            <a:off x="4937760" y="1188720"/>
            <a:ext cx="37490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9" name="Solution circle"/>
          <p:cNvSpPr/>
          <p:nvPr/>
        </p:nvSpPr>
        <p:spPr>
          <a:xfrm>
            <a:off x="507492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give feedback anonymously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finds the mood, topic and urgency of each comment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Admins see priorities and suggested actions</a:t>
            </a:r>
            <a:endParaRPr lang="en-US" sz="1400" dirty="0"/>
          </a:p>
        </p:txBody>
      </p:sp>
      <p:sp>
        <p:nvSpPr>
          <p:cNvPr id="13" name="Arrow circle"/>
          <p:cNvSpPr/>
          <p:nvPr/>
        </p:nvSpPr>
        <p:spPr>
          <a:xfrm>
            <a:off x="4343400" y="22585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ArrowRigh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372868"/>
            <a:ext cx="228600" cy="228600"/>
          </a:xfrm>
          <a:prstGeom prst="rect">
            <a:avLst/>
          </a:prstGeom>
        </p:spPr>
      </p:pic>
      <p:sp>
        <p:nvSpPr>
          <p:cNvPr id="15" name="Takeaway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ProcessMind adds an intelligent layer on top of existing feedback forms. It does not replace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Website Works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Step 1 circle"/>
          <p:cNvSpPr/>
          <p:nvPr/>
        </p:nvSpPr>
        <p:spPr>
          <a:xfrm>
            <a:off x="800100" y="14859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User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6802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Opens the site or scans a QR code</a:t>
            </a:r>
            <a:endParaRPr lang="en-US" sz="1200" dirty="0"/>
          </a:p>
        </p:txBody>
      </p:sp>
      <p:sp>
        <p:nvSpPr>
          <p:cNvPr id="8" name="Link 1 circle"/>
          <p:cNvSpPr/>
          <p:nvPr/>
        </p:nvSpPr>
        <p:spPr>
          <a:xfrm>
            <a:off x="189738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ArrowRigh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805940"/>
            <a:ext cx="137160" cy="137160"/>
          </a:xfrm>
          <a:prstGeom prst="rect">
            <a:avLst/>
          </a:prstGeom>
        </p:spPr>
      </p:pic>
      <p:sp>
        <p:nvSpPr>
          <p:cNvPr id="10" name="Step card 2"/>
          <p:cNvSpPr/>
          <p:nvPr/>
        </p:nvSpPr>
        <p:spPr>
          <a:xfrm>
            <a:off x="214884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1" name="Step 2 circle"/>
          <p:cNvSpPr/>
          <p:nvPr/>
        </p:nvSpPr>
        <p:spPr>
          <a:xfrm>
            <a:off x="2491740" y="148590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mage 2" descr="MessageSquar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168021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402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Feedback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25856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Writes anonymous feedback</a:t>
            </a:r>
            <a:endParaRPr lang="en-US" sz="1200" dirty="0"/>
          </a:p>
        </p:txBody>
      </p:sp>
      <p:sp>
        <p:nvSpPr>
          <p:cNvPr id="15" name="Link 2 circle"/>
          <p:cNvSpPr/>
          <p:nvPr/>
        </p:nvSpPr>
        <p:spPr>
          <a:xfrm>
            <a:off x="358902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3" descr="ArrowRigh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805940"/>
            <a:ext cx="137160" cy="137160"/>
          </a:xfrm>
          <a:prstGeom prst="rect">
            <a:avLst/>
          </a:prstGeom>
        </p:spPr>
      </p:pic>
      <p:sp>
        <p:nvSpPr>
          <p:cNvPr id="17" name="Step card 3"/>
          <p:cNvSpPr/>
          <p:nvPr/>
        </p:nvSpPr>
        <p:spPr>
          <a:xfrm>
            <a:off x="384048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8" name="Step 3 circle"/>
          <p:cNvSpPr/>
          <p:nvPr/>
        </p:nvSpPr>
        <p:spPr>
          <a:xfrm>
            <a:off x="4183380" y="14859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4" descr="Cpu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690" y="1680210"/>
            <a:ext cx="388620" cy="3886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93192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AI + OS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395020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Tasks are queued and analysed</a:t>
            </a:r>
            <a:endParaRPr lang="en-US" sz="1200" dirty="0"/>
          </a:p>
        </p:txBody>
      </p:sp>
      <p:sp>
        <p:nvSpPr>
          <p:cNvPr id="22" name="Link 3 circle"/>
          <p:cNvSpPr/>
          <p:nvPr/>
        </p:nvSpPr>
        <p:spPr>
          <a:xfrm>
            <a:off x="528066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5" descr="ArrowRigh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805940"/>
            <a:ext cx="137160" cy="137160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553212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5" name="Step 4 circle"/>
          <p:cNvSpPr/>
          <p:nvPr/>
        </p:nvSpPr>
        <p:spPr>
          <a:xfrm>
            <a:off x="5875020" y="14859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6" descr="BarChart2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9330" y="1680210"/>
            <a:ext cx="388620" cy="3886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2356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564184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Admin sees insights and priority</a:t>
            </a:r>
            <a:endParaRPr lang="en-US" sz="1200" dirty="0"/>
          </a:p>
        </p:txBody>
      </p:sp>
      <p:sp>
        <p:nvSpPr>
          <p:cNvPr id="29" name="Link 4 circle"/>
          <p:cNvSpPr/>
          <p:nvPr/>
        </p:nvSpPr>
        <p:spPr>
          <a:xfrm>
            <a:off x="6972300" y="173736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7" descr="ArrowRigh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805940"/>
            <a:ext cx="137160" cy="137160"/>
          </a:xfrm>
          <a:prstGeom prst="rect">
            <a:avLst/>
          </a:prstGeom>
        </p:spPr>
      </p:pic>
      <p:sp>
        <p:nvSpPr>
          <p:cNvPr id="31" name="Step card 5"/>
          <p:cNvSpPr/>
          <p:nvPr/>
        </p:nvSpPr>
        <p:spPr>
          <a:xfrm>
            <a:off x="7223760" y="1280160"/>
            <a:ext cx="1463040" cy="23317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32" name="Step 5 circle"/>
          <p:cNvSpPr/>
          <p:nvPr/>
        </p:nvSpPr>
        <p:spPr>
          <a:xfrm>
            <a:off x="7566660" y="148590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mage 8" descr="Fla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0970" y="1680210"/>
            <a:ext cx="388620" cy="3886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31520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Action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7333488" y="2724912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Issue is fixed and tracked</a:t>
            </a:r>
            <a:endParaRPr lang="en-US" sz="1200" dirty="0"/>
          </a:p>
        </p:txBody>
      </p:sp>
      <p:sp>
        <p:nvSpPr>
          <p:cNvPr id="36" name="Note card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37" name="Anonymous circle"/>
          <p:cNvSpPr/>
          <p:nvPr/>
        </p:nvSpPr>
        <p:spPr>
          <a:xfrm>
            <a:off x="676656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9" descr="Lock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110228"/>
            <a:ext cx="192024" cy="19202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23444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Feedback stays anonymous. AI supports decisions; people take the final action.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Web Page Technologies</a:t>
            </a:r>
            <a:endParaRPr lang="en-US" sz="3200" dirty="0"/>
          </a:p>
        </p:txBody>
      </p:sp>
      <p:sp>
        <p:nvSpPr>
          <p:cNvPr id="3" name="Tech card 1"/>
          <p:cNvSpPr/>
          <p:nvPr/>
        </p:nvSpPr>
        <p:spPr>
          <a:xfrm>
            <a:off x="45720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Tech 1 circle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React.js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Builds the pages from reusable parts</a:t>
            </a:r>
            <a:endParaRPr lang="en-US" sz="1200" dirty="0"/>
          </a:p>
        </p:txBody>
      </p:sp>
      <p:sp>
        <p:nvSpPr>
          <p:cNvPr id="8" name="Tech card 2"/>
          <p:cNvSpPr/>
          <p:nvPr/>
        </p:nvSpPr>
        <p:spPr>
          <a:xfrm>
            <a:off x="329184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9" name="Tech 2 circle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Za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Fast dev server and build tool</a:t>
            </a:r>
            <a:endParaRPr lang="en-US" sz="1200" dirty="0"/>
          </a:p>
        </p:txBody>
      </p:sp>
      <p:sp>
        <p:nvSpPr>
          <p:cNvPr id="13" name="Tech card 3"/>
          <p:cNvSpPr/>
          <p:nvPr/>
        </p:nvSpPr>
        <p:spPr>
          <a:xfrm>
            <a:off x="6126480" y="11887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4" name="Tech 3 circle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Gri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444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Tailwind CSS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Quick, consistent styling and theme</a:t>
            </a:r>
            <a:endParaRPr lang="en-US" sz="1200" dirty="0"/>
          </a:p>
        </p:txBody>
      </p:sp>
      <p:sp>
        <p:nvSpPr>
          <p:cNvPr id="18" name="Tech card 4"/>
          <p:cNvSpPr/>
          <p:nvPr/>
        </p:nvSpPr>
        <p:spPr>
          <a:xfrm>
            <a:off x="45720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9" name="Tech 4 circle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FileTex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131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HTML5 + CSS3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Page structure and basic styles</a:t>
            </a:r>
            <a:endParaRPr lang="en-US" sz="1200" dirty="0"/>
          </a:p>
        </p:txBody>
      </p:sp>
      <p:sp>
        <p:nvSpPr>
          <p:cNvPr id="23" name="Tech card 5"/>
          <p:cNvSpPr/>
          <p:nvPr/>
        </p:nvSpPr>
        <p:spPr>
          <a:xfrm>
            <a:off x="329184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4" name="Tech 5 circle"/>
          <p:cNvSpPr/>
          <p:nvPr/>
        </p:nvSpPr>
        <p:spPr>
          <a:xfrm>
            <a:off x="3474720" y="2971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mage 4" descr="PieChar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4740" y="31318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0624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Recharts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20624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Charts for sentiment and trends</a:t>
            </a:r>
            <a:endParaRPr lang="en-US" sz="1200" dirty="0"/>
          </a:p>
        </p:txBody>
      </p:sp>
      <p:sp>
        <p:nvSpPr>
          <p:cNvPr id="28" name="Tech card 6"/>
          <p:cNvSpPr/>
          <p:nvPr/>
        </p:nvSpPr>
        <p:spPr>
          <a:xfrm>
            <a:off x="6126480" y="265176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9" name="Tech 6 circle"/>
          <p:cNvSpPr/>
          <p:nvPr/>
        </p:nvSpPr>
        <p:spPr>
          <a:xfrm>
            <a:off x="6309360" y="2971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mage 5" descr="Shuff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31318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 Flow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04088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Diagrams of the processing pipeline</a:t>
            </a:r>
            <a:endParaRPr lang="en-US" sz="1200" dirty="0"/>
          </a:p>
        </p:txBody>
      </p:sp>
      <p:sp>
        <p:nvSpPr>
          <p:cNvPr id="33" name="Run bar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locally:  </a:t>
            </a:r>
            <a:r>
              <a:rPr lang="en-US" sz="1400" dirty="0">
                <a:solidFill>
                  <a:schemeClr val="bg1"/>
                </a:solidFill>
              </a:rPr>
              <a:t>npm run dev   →   http://localhost:5173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Backend, Database &amp; Tools</a:t>
            </a:r>
            <a:endParaRPr lang="en-US" sz="32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Stack 1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erv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BACKEND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+ FastAPI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Receives feedback and runs the AI tasks</a:t>
            </a:r>
            <a:endParaRPr lang="en-US" sz="1400" dirty="0"/>
          </a:p>
        </p:txBody>
      </p:sp>
      <p:sp>
        <p:nvSpPr>
          <p:cNvPr id="9" name="Stack card 2"/>
          <p:cNvSpPr/>
          <p:nvPr/>
        </p:nvSpPr>
        <p:spPr>
          <a:xfrm>
            <a:off x="329184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0" name="Stack 2 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5773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DATABASE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Stores feedback, results and events safely</a:t>
            </a:r>
            <a:endParaRPr lang="en-US" sz="1400" dirty="0"/>
          </a:p>
        </p:txBody>
      </p:sp>
      <p:sp>
        <p:nvSpPr>
          <p:cNvPr id="15" name="Stack card 3"/>
          <p:cNvSpPr/>
          <p:nvPr/>
        </p:nvSpPr>
        <p:spPr>
          <a:xfrm>
            <a:off x="6126480" y="118872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6" name="Stack 3 ci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Clou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32320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Pages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site for the team; cloud hosting planned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DEVELOPMENT TOOLS</a:t>
            </a:r>
            <a:endParaRPr lang="en-US" sz="1200" dirty="0"/>
          </a:p>
        </p:txBody>
      </p:sp>
      <p:sp>
        <p:nvSpPr>
          <p:cNvPr id="22" name="Tool pill VS Code"/>
          <p:cNvSpPr/>
          <p:nvPr/>
        </p:nvSpPr>
        <p:spPr>
          <a:xfrm>
            <a:off x="457200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VS Code</a:t>
            </a:r>
            <a:endParaRPr lang="en-US" sz="1400" dirty="0"/>
          </a:p>
        </p:txBody>
      </p:sp>
      <p:sp>
        <p:nvSpPr>
          <p:cNvPr id="24" name="Tool pill Git"/>
          <p:cNvSpPr/>
          <p:nvPr/>
        </p:nvSpPr>
        <p:spPr>
          <a:xfrm>
            <a:off x="2542032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542032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Git</a:t>
            </a:r>
            <a:endParaRPr lang="en-US" sz="1400" dirty="0"/>
          </a:p>
        </p:txBody>
      </p:sp>
      <p:sp>
        <p:nvSpPr>
          <p:cNvPr id="26" name="Tool pill GitHub"/>
          <p:cNvSpPr/>
          <p:nvPr/>
        </p:nvSpPr>
        <p:spPr>
          <a:xfrm>
            <a:off x="4626864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26864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</a:t>
            </a:r>
            <a:endParaRPr lang="en-US" sz="1400" dirty="0"/>
          </a:p>
        </p:txBody>
      </p:sp>
      <p:sp>
        <p:nvSpPr>
          <p:cNvPr id="28" name="Tool pill Postman"/>
          <p:cNvSpPr/>
          <p:nvPr/>
        </p:nvSpPr>
        <p:spPr>
          <a:xfrm>
            <a:off x="6711696" y="3931920"/>
            <a:ext cx="18745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711696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Postman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AI &amp; ML in Simple Words</a:t>
            </a:r>
            <a:endParaRPr lang="en-US" sz="3200" dirty="0"/>
          </a:p>
        </p:txBody>
      </p:sp>
      <p:sp>
        <p:nvSpPr>
          <p:cNvPr id="3" name="AI row 1"/>
          <p:cNvSpPr/>
          <p:nvPr/>
        </p:nvSpPr>
        <p:spPr>
          <a:xfrm>
            <a:off x="457200" y="118872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AI 1 circle"/>
          <p:cNvSpPr/>
          <p:nvPr/>
        </p:nvSpPr>
        <p:spPr>
          <a:xfrm>
            <a:off x="594360" y="128930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Smi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403604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43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Sentiment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Is the comment positive or negative?</a:t>
            </a:r>
            <a:endParaRPr lang="en-US" sz="1200" dirty="0"/>
          </a:p>
        </p:txBody>
      </p:sp>
      <p:sp>
        <p:nvSpPr>
          <p:cNvPr id="8" name="AI row 2"/>
          <p:cNvSpPr/>
          <p:nvPr/>
        </p:nvSpPr>
        <p:spPr>
          <a:xfrm>
            <a:off x="457200" y="196596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9" name="AI 2 circle"/>
          <p:cNvSpPr/>
          <p:nvPr/>
        </p:nvSpPr>
        <p:spPr>
          <a:xfrm>
            <a:off x="594360" y="20665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Ta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18084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Topic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295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What is it about: Wi-Fi, canteen, labs?</a:t>
            </a:r>
            <a:endParaRPr lang="en-US" sz="1200" dirty="0"/>
          </a:p>
        </p:txBody>
      </p:sp>
      <p:sp>
        <p:nvSpPr>
          <p:cNvPr id="13" name="AI row 3"/>
          <p:cNvSpPr/>
          <p:nvPr/>
        </p:nvSpPr>
        <p:spPr>
          <a:xfrm>
            <a:off x="457200" y="274320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4" name="AI 3 circle"/>
          <p:cNvSpPr/>
          <p:nvPr/>
        </p:nvSpPr>
        <p:spPr>
          <a:xfrm>
            <a:off x="594360" y="284378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mage 2" descr="AlertTriang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95808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Severity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How serious is the problem?</a:t>
            </a:r>
            <a:endParaRPr lang="en-US" sz="1200" dirty="0"/>
          </a:p>
        </p:txBody>
      </p:sp>
      <p:sp>
        <p:nvSpPr>
          <p:cNvPr id="18" name="AI row 4"/>
          <p:cNvSpPr/>
          <p:nvPr/>
        </p:nvSpPr>
        <p:spPr>
          <a:xfrm>
            <a:off x="457200" y="3520440"/>
            <a:ext cx="4114800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9" name="AI 4 circle"/>
          <p:cNvSpPr/>
          <p:nvPr/>
        </p:nvSpPr>
        <p:spPr>
          <a:xfrm>
            <a:off x="594360" y="36210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TrendingU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73532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575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&amp; Trend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188720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What to fix first, and is it repeating?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Python · Pandas · NumPy · Scikit-learn · NLP</a:t>
            </a:r>
            <a:endParaRPr lang="en-US" sz="1200" dirty="0"/>
          </a:p>
        </p:txBody>
      </p:sp>
      <p:sp>
        <p:nvSpPr>
          <p:cNvPr id="24" name="Example card"/>
          <p:cNvSpPr/>
          <p:nvPr/>
        </p:nvSpPr>
        <p:spPr>
          <a:xfrm>
            <a:off x="4846320" y="1188720"/>
            <a:ext cx="384048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120640" y="1371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SAMPLE INPUT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“The Wi-Fi keeps disconnecting in Block B. Students cannot attend online classes.”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120640" y="2606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AI OUTPUT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1206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Topic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Wi-Fi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120640" y="3209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Sentiment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492240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Negative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Severity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49224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512064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Priority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49224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48463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Sample / demo data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OS Concepts We Use</a:t>
            </a:r>
            <a:endParaRPr lang="en-US" sz="3200" dirty="0"/>
          </a:p>
        </p:txBody>
      </p:sp>
      <p:sp>
        <p:nvSpPr>
          <p:cNvPr id="3" name="OS row 1"/>
          <p:cNvSpPr/>
          <p:nvPr/>
        </p:nvSpPr>
        <p:spPr>
          <a:xfrm>
            <a:off x="457200" y="118872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OS 1 circle"/>
          <p:cNvSpPr/>
          <p:nvPr/>
        </p:nvSpPr>
        <p:spPr>
          <a:xfrm>
            <a:off x="603504" y="13075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Lis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2646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Task Queue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Feedback waits in line, none is lost</a:t>
            </a:r>
            <a:endParaRPr lang="en-US" sz="1200" dirty="0"/>
          </a:p>
        </p:txBody>
      </p:sp>
      <p:sp>
        <p:nvSpPr>
          <p:cNvPr id="8" name="OS row 2"/>
          <p:cNvSpPr/>
          <p:nvPr/>
        </p:nvSpPr>
        <p:spPr>
          <a:xfrm>
            <a:off x="457200" y="201168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9" name="OS 2 circle"/>
          <p:cNvSpPr/>
          <p:nvPr/>
        </p:nvSpPr>
        <p:spPr>
          <a:xfrm>
            <a:off x="603504" y="21305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1" descr="Targ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2494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Scheduling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Urgent issues are processed first</a:t>
            </a:r>
            <a:endParaRPr lang="en-US" sz="1200" dirty="0"/>
          </a:p>
        </p:txBody>
      </p:sp>
      <p:sp>
        <p:nvSpPr>
          <p:cNvPr id="13" name="OS row 3"/>
          <p:cNvSpPr/>
          <p:nvPr/>
        </p:nvSpPr>
        <p:spPr>
          <a:xfrm>
            <a:off x="457200" y="283464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4" name="OS 3 circle"/>
          <p:cNvSpPr/>
          <p:nvPr/>
        </p:nvSpPr>
        <p:spPr>
          <a:xfrm>
            <a:off x="603504" y="29535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Lay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0723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Threads &amp; Processes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Many analyses run at the same time</a:t>
            </a:r>
            <a:endParaRPr lang="en-US" sz="1200" dirty="0"/>
          </a:p>
        </p:txBody>
      </p:sp>
      <p:sp>
        <p:nvSpPr>
          <p:cNvPr id="18" name="OS row 4"/>
          <p:cNvSpPr/>
          <p:nvPr/>
        </p:nvSpPr>
        <p:spPr>
          <a:xfrm>
            <a:off x="457200" y="3657600"/>
            <a:ext cx="457200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9" name="OS 4 circle"/>
          <p:cNvSpPr/>
          <p:nvPr/>
        </p:nvSpPr>
        <p:spPr>
          <a:xfrm>
            <a:off x="603504" y="3776472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Lo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89534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Synchronization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2801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Tasks share data without clashing</a:t>
            </a:r>
            <a:endParaRPr lang="en-US" sz="1200" dirty="0"/>
          </a:p>
        </p:txBody>
      </p:sp>
      <p:sp>
        <p:nvSpPr>
          <p:cNvPr id="23" name="Pipeline panel"/>
          <p:cNvSpPr/>
          <p:nvPr/>
        </p:nvSpPr>
        <p:spPr>
          <a:xfrm>
            <a:off x="5303520" y="1188720"/>
            <a:ext cx="3383280" cy="3163824"/>
          </a:xfrm>
          <a:prstGeom prst="roundRect">
            <a:avLst>
              <a:gd name="adj" fmla="val 3468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53212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PROCESSING PIPELINE</a:t>
            </a:r>
            <a:endParaRPr lang="en-US" sz="1200" dirty="0"/>
          </a:p>
        </p:txBody>
      </p:sp>
      <p:sp>
        <p:nvSpPr>
          <p:cNvPr id="25" name="Queue High"/>
          <p:cNvSpPr/>
          <p:nvPr/>
        </p:nvSpPr>
        <p:spPr>
          <a:xfrm>
            <a:off x="5532120" y="17830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53212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High</a:t>
            </a:r>
            <a:endParaRPr lang="en-US" sz="1200" dirty="0"/>
          </a:p>
        </p:txBody>
      </p:sp>
      <p:sp>
        <p:nvSpPr>
          <p:cNvPr id="27" name="Queue arrow High"/>
          <p:cNvSpPr/>
          <p:nvPr/>
        </p:nvSpPr>
        <p:spPr>
          <a:xfrm>
            <a:off x="6492240" y="20345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Queue Medium"/>
          <p:cNvSpPr/>
          <p:nvPr/>
        </p:nvSpPr>
        <p:spPr>
          <a:xfrm>
            <a:off x="5532120" y="24688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53212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30" name="Queue arrow Medium"/>
          <p:cNvSpPr/>
          <p:nvPr/>
        </p:nvSpPr>
        <p:spPr>
          <a:xfrm>
            <a:off x="6492240" y="27203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1" name="Queue Low"/>
          <p:cNvSpPr/>
          <p:nvPr/>
        </p:nvSpPr>
        <p:spPr>
          <a:xfrm>
            <a:off x="5532120" y="31546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53212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33" name="Queue arrow Low"/>
          <p:cNvSpPr/>
          <p:nvPr/>
        </p:nvSpPr>
        <p:spPr>
          <a:xfrm>
            <a:off x="6492240" y="3406140"/>
            <a:ext cx="36576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4" name="Scheduler"/>
          <p:cNvSpPr/>
          <p:nvPr/>
        </p:nvSpPr>
        <p:spPr>
          <a:xfrm>
            <a:off x="6903720" y="1783080"/>
            <a:ext cx="594360" cy="187452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35" name="Image 4" descr="Schedule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2560320"/>
            <a:ext cx="274320" cy="274320"/>
          </a:xfrm>
          <a:prstGeom prst="rect">
            <a:avLst/>
          </a:prstGeom>
        </p:spPr>
      </p:pic>
      <p:sp>
        <p:nvSpPr>
          <p:cNvPr id="36" name="Worker arrow 0"/>
          <p:cNvSpPr/>
          <p:nvPr/>
        </p:nvSpPr>
        <p:spPr>
          <a:xfrm>
            <a:off x="7543800" y="20345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Worker 1 circle"/>
          <p:cNvSpPr/>
          <p:nvPr/>
        </p:nvSpPr>
        <p:spPr>
          <a:xfrm>
            <a:off x="78867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5" descr="Cpu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1908810"/>
            <a:ext cx="251460" cy="251460"/>
          </a:xfrm>
          <a:prstGeom prst="rect">
            <a:avLst/>
          </a:prstGeom>
        </p:spPr>
      </p:pic>
      <p:sp>
        <p:nvSpPr>
          <p:cNvPr id="39" name="Worker arrow 1"/>
          <p:cNvSpPr/>
          <p:nvPr/>
        </p:nvSpPr>
        <p:spPr>
          <a:xfrm>
            <a:off x="7543800" y="27203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0" name="Worker 2 circle"/>
          <p:cNvSpPr/>
          <p:nvPr/>
        </p:nvSpPr>
        <p:spPr>
          <a:xfrm>
            <a:off x="788670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6" descr="Cpu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2594610"/>
            <a:ext cx="251460" cy="251460"/>
          </a:xfrm>
          <a:prstGeom prst="rect">
            <a:avLst/>
          </a:prstGeom>
        </p:spPr>
      </p:pic>
      <p:sp>
        <p:nvSpPr>
          <p:cNvPr id="42" name="Worker arrow 2"/>
          <p:cNvSpPr/>
          <p:nvPr/>
        </p:nvSpPr>
        <p:spPr>
          <a:xfrm>
            <a:off x="7543800" y="3406140"/>
            <a:ext cx="27432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3" name="Worker 3 circle"/>
          <p:cNvSpPr/>
          <p:nvPr/>
        </p:nvSpPr>
        <p:spPr>
          <a:xfrm>
            <a:off x="78867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mage 7" descr="Cpu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0" y="3280410"/>
            <a:ext cx="251460" cy="25146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5321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Queue  →  Scheduler  →  Workers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</a:t>
            </a:r>
            <a:endParaRPr lang="en-US" sz="3200" dirty="0"/>
          </a:p>
        </p:txBody>
      </p:sp>
      <p:sp>
        <p:nvSpPr>
          <p:cNvPr id="3" name="Browser window"/>
          <p:cNvSpPr/>
          <p:nvPr/>
        </p:nvSpPr>
        <p:spPr>
          <a:xfrm>
            <a:off x="457200" y="1188720"/>
            <a:ext cx="51206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Browser bar"/>
          <p:cNvSpPr/>
          <p:nvPr/>
        </p:nvSpPr>
        <p:spPr>
          <a:xfrm>
            <a:off x="457200" y="1188720"/>
            <a:ext cx="5120640" cy="411480"/>
          </a:xfrm>
          <a:prstGeom prst="roundRect">
            <a:avLst>
              <a:gd name="adj" fmla="val 26667"/>
            </a:avLst>
          </a:prstGeom>
          <a:solidFill>
            <a:schemeClr val="tx2"/>
          </a:solidFill>
          <a:ln/>
        </p:spPr>
      </p:sp>
      <p:sp>
        <p:nvSpPr>
          <p:cNvPr id="5" name="Dot 0"/>
          <p:cNvSpPr/>
          <p:nvPr/>
        </p:nvSpPr>
        <p:spPr>
          <a:xfrm>
            <a:off x="640080" y="1335024"/>
            <a:ext cx="118872" cy="11887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Dot 1"/>
          <p:cNvSpPr/>
          <p:nvPr/>
        </p:nvSpPr>
        <p:spPr>
          <a:xfrm>
            <a:off x="841248" y="1335024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Dot 2"/>
          <p:cNvSpPr/>
          <p:nvPr/>
        </p:nvSpPr>
        <p:spPr>
          <a:xfrm>
            <a:off x="1042416" y="1335024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URL pill"/>
          <p:cNvSpPr/>
          <p:nvPr/>
        </p:nvSpPr>
        <p:spPr>
          <a:xfrm>
            <a:off x="1417320" y="1271016"/>
            <a:ext cx="2926080" cy="246888"/>
          </a:xfrm>
          <a:prstGeom prst="roundRect">
            <a:avLst>
              <a:gd name="adj" fmla="val 4814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12710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localhost:5173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Priority Dashboard</a:t>
            </a:r>
            <a:endParaRPr lang="en-US" sz="1600" dirty="0"/>
          </a:p>
        </p:txBody>
      </p:sp>
      <p:sp>
        <p:nvSpPr>
          <p:cNvPr id="11" name="Demo row 1"/>
          <p:cNvSpPr/>
          <p:nvPr/>
        </p:nvSpPr>
        <p:spPr>
          <a:xfrm>
            <a:off x="731520" y="224028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2402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Wi-Fi disconnects in Block B</a:t>
            </a:r>
            <a:endParaRPr lang="en-US" sz="1400" dirty="0"/>
          </a:p>
        </p:txBody>
      </p:sp>
      <p:sp>
        <p:nvSpPr>
          <p:cNvPr id="13" name="Badge 1"/>
          <p:cNvSpPr/>
          <p:nvPr/>
        </p:nvSpPr>
        <p:spPr>
          <a:xfrm>
            <a:off x="4160520" y="235915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60520" y="2359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High</a:t>
            </a:r>
            <a:endParaRPr lang="en-US" sz="1200" dirty="0"/>
          </a:p>
        </p:txBody>
      </p:sp>
      <p:sp>
        <p:nvSpPr>
          <p:cNvPr id="15" name="Demo row 2"/>
          <p:cNvSpPr/>
          <p:nvPr/>
        </p:nvSpPr>
        <p:spPr>
          <a:xfrm>
            <a:off x="731520" y="288036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8803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Long queue at canteen</a:t>
            </a:r>
            <a:endParaRPr lang="en-US" sz="1400" dirty="0"/>
          </a:p>
        </p:txBody>
      </p:sp>
      <p:sp>
        <p:nvSpPr>
          <p:cNvPr id="17" name="Badge 2"/>
          <p:cNvSpPr/>
          <p:nvPr/>
        </p:nvSpPr>
        <p:spPr>
          <a:xfrm>
            <a:off x="4160520" y="299923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19" name="Demo row 3"/>
          <p:cNvSpPr/>
          <p:nvPr/>
        </p:nvSpPr>
        <p:spPr>
          <a:xfrm>
            <a:off x="731520" y="3520440"/>
            <a:ext cx="45720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5204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Hackathon registration was smooth</a:t>
            </a:r>
            <a:endParaRPr lang="en-US" sz="1400" dirty="0"/>
          </a:p>
        </p:txBody>
      </p:sp>
      <p:sp>
        <p:nvSpPr>
          <p:cNvPr id="21" name="Badge 3"/>
          <p:cNvSpPr/>
          <p:nvPr/>
        </p:nvSpPr>
        <p:spPr>
          <a:xfrm>
            <a:off x="416052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6052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Positive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Sample / demo data</a:t>
            </a:r>
            <a:endParaRPr lang="en-US" sz="1000" dirty="0"/>
          </a:p>
        </p:txBody>
      </p:sp>
      <p:sp>
        <p:nvSpPr>
          <p:cNvPr id="24" name="Demo step 1 circle"/>
          <p:cNvSpPr/>
          <p:nvPr/>
        </p:nvSpPr>
        <p:spPr>
          <a:xfrm>
            <a:off x="5783580" y="13030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0" descr="Edit3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1428750"/>
            <a:ext cx="251460" cy="2514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44652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1481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Submit anonymous feedback</a:t>
            </a:r>
            <a:endParaRPr lang="en-US" sz="1400" dirty="0"/>
          </a:p>
        </p:txBody>
      </p:sp>
      <p:sp>
        <p:nvSpPr>
          <p:cNvPr id="28" name="Demo step 2 circle"/>
          <p:cNvSpPr/>
          <p:nvPr/>
        </p:nvSpPr>
        <p:spPr>
          <a:xfrm>
            <a:off x="5783580" y="21442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1" descr="Cpu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2269998"/>
            <a:ext cx="251460" cy="2514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446520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232257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Watch AI tag topic and mood</a:t>
            </a:r>
            <a:endParaRPr lang="en-US" sz="1400" dirty="0"/>
          </a:p>
        </p:txBody>
      </p:sp>
      <p:sp>
        <p:nvSpPr>
          <p:cNvPr id="32" name="Demo step 3 circle"/>
          <p:cNvSpPr/>
          <p:nvPr/>
        </p:nvSpPr>
        <p:spPr>
          <a:xfrm>
            <a:off x="5783580" y="298551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mage 2" descr="BarChart2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310" y="3111246"/>
            <a:ext cx="251460" cy="2514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446520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446520" y="3163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 the admin dashboard</a:t>
            </a:r>
            <a:endParaRPr lang="en-US" sz="1400" dirty="0"/>
          </a:p>
        </p:txBody>
      </p:sp>
      <p:sp>
        <p:nvSpPr>
          <p:cNvPr id="36" name="Demo step 4 circle"/>
          <p:cNvSpPr/>
          <p:nvPr/>
        </p:nvSpPr>
        <p:spPr>
          <a:xfrm>
            <a:off x="5783580" y="38267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Image 3" descr="Che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310" y="3952494"/>
            <a:ext cx="251460" cy="25146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44652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446520" y="40050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priority and suggestions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Outcomes and Benefits</a:t>
            </a:r>
            <a:endParaRPr lang="en-US" sz="3200" dirty="0"/>
          </a:p>
        </p:txBody>
      </p:sp>
      <p:sp>
        <p:nvSpPr>
          <p:cNvPr id="3" name="Quote panel"/>
          <p:cNvSpPr/>
          <p:nvPr/>
        </p:nvSpPr>
        <p:spPr>
          <a:xfrm>
            <a:off x="45720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4" name="Goal circle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Targ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Student Voice to Intelligent Action</a:t>
            </a:r>
            <a:endParaRPr lang="en-US" sz="2000" dirty="0"/>
          </a:p>
        </p:txBody>
      </p:sp>
      <p:sp>
        <p:nvSpPr>
          <p:cNvPr id="7" name="Outcome row 1"/>
          <p:cNvSpPr/>
          <p:nvPr/>
        </p:nvSpPr>
        <p:spPr>
          <a:xfrm>
            <a:off x="3566160" y="118872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8" name="Outcome 1 circle"/>
          <p:cNvSpPr/>
          <p:nvPr/>
        </p:nvSpPr>
        <p:spPr>
          <a:xfrm>
            <a:off x="374904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EyeOff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3258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1188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Anonymous feedback in one place</a:t>
            </a:r>
            <a:endParaRPr lang="en-US" sz="1400" dirty="0"/>
          </a:p>
        </p:txBody>
      </p:sp>
      <p:sp>
        <p:nvSpPr>
          <p:cNvPr id="11" name="Outcome row 2"/>
          <p:cNvSpPr/>
          <p:nvPr/>
        </p:nvSpPr>
        <p:spPr>
          <a:xfrm>
            <a:off x="3566160" y="173736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2" name="Outcome 2 circle"/>
          <p:cNvSpPr/>
          <p:nvPr/>
        </p:nvSpPr>
        <p:spPr>
          <a:xfrm>
            <a:off x="3749040" y="1783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Za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874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9768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Faster analysis of large feedback</a:t>
            </a:r>
            <a:endParaRPr lang="en-US" sz="1400" dirty="0"/>
          </a:p>
        </p:txBody>
      </p:sp>
      <p:sp>
        <p:nvSpPr>
          <p:cNvPr id="15" name="Outcome row 3"/>
          <p:cNvSpPr/>
          <p:nvPr/>
        </p:nvSpPr>
        <p:spPr>
          <a:xfrm>
            <a:off x="3566160" y="228600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6" name="Outcome 3 circle"/>
          <p:cNvSpPr/>
          <p:nvPr/>
        </p:nvSpPr>
        <p:spPr>
          <a:xfrm>
            <a:off x="3749040" y="23317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3" descr="Ta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242316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976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 mood and topic detection</a:t>
            </a:r>
            <a:endParaRPr lang="en-US" sz="1400" dirty="0"/>
          </a:p>
        </p:txBody>
      </p:sp>
      <p:sp>
        <p:nvSpPr>
          <p:cNvPr id="19" name="Outcome row 4"/>
          <p:cNvSpPr/>
          <p:nvPr/>
        </p:nvSpPr>
        <p:spPr>
          <a:xfrm>
            <a:off x="3566160" y="283464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0" name="Outcome 4 circle"/>
          <p:cNvSpPr/>
          <p:nvPr/>
        </p:nvSpPr>
        <p:spPr>
          <a:xfrm>
            <a:off x="3749040" y="288036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4" descr="Activit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29718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9768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Repeated issues spotted early</a:t>
            </a:r>
            <a:endParaRPr lang="en-US" sz="1400" dirty="0"/>
          </a:p>
        </p:txBody>
      </p:sp>
      <p:sp>
        <p:nvSpPr>
          <p:cNvPr id="23" name="Outcome row 5"/>
          <p:cNvSpPr/>
          <p:nvPr/>
        </p:nvSpPr>
        <p:spPr>
          <a:xfrm>
            <a:off x="3566160" y="338328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4" name="Outcome 5 circle"/>
          <p:cNvSpPr/>
          <p:nvPr/>
        </p:nvSpPr>
        <p:spPr>
          <a:xfrm>
            <a:off x="3749040" y="34290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5" descr="BarChart2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352044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29768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Event and trend insights</a:t>
            </a:r>
            <a:endParaRPr lang="en-US" sz="1400" dirty="0"/>
          </a:p>
        </p:txBody>
      </p:sp>
      <p:sp>
        <p:nvSpPr>
          <p:cNvPr id="27" name="Outcome row 6"/>
          <p:cNvSpPr/>
          <p:nvPr/>
        </p:nvSpPr>
        <p:spPr>
          <a:xfrm>
            <a:off x="3566160" y="3931920"/>
            <a:ext cx="512064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8" name="Outcome 6 circle"/>
          <p:cNvSpPr/>
          <p:nvPr/>
        </p:nvSpPr>
        <p:spPr>
          <a:xfrm>
            <a:off x="3749040" y="397764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Image 6" descr="Check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0" y="4069080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29768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Suggested actions with tracking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 &amp; Future Scope</a:t>
            </a:r>
            <a:endParaRPr lang="en-US" sz="32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4" name="Conclusion circle"/>
          <p:cNvSpPr/>
          <p:nvPr/>
        </p:nvSpPr>
        <p:spPr>
          <a:xfrm>
            <a:off x="617220" y="13487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4744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Turns raw feedback into clear insights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with React and Vite for a smooth web experience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and OS concepts work together to process feedback fast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2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9" name="Future row 1"/>
          <p:cNvSpPr/>
          <p:nvPr/>
        </p:nvSpPr>
        <p:spPr>
          <a:xfrm>
            <a:off x="4663440" y="155448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0" name="Future 1 circle"/>
          <p:cNvSpPr/>
          <p:nvPr/>
        </p:nvSpPr>
        <p:spPr>
          <a:xfrm>
            <a:off x="4818888" y="16550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176022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5544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real college feedback data</a:t>
            </a:r>
            <a:endParaRPr lang="en-US" sz="1400" dirty="0"/>
          </a:p>
        </p:txBody>
      </p:sp>
      <p:sp>
        <p:nvSpPr>
          <p:cNvPr id="13" name="Future row 2"/>
          <p:cNvSpPr/>
          <p:nvPr/>
        </p:nvSpPr>
        <p:spPr>
          <a:xfrm>
            <a:off x="4663440" y="228600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4" name="Future 2 circle"/>
          <p:cNvSpPr/>
          <p:nvPr/>
        </p:nvSpPr>
        <p:spPr>
          <a:xfrm>
            <a:off x="4818888" y="2386584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Glob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2491740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22860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Telugu and Hindi comments</a:t>
            </a:r>
            <a:endParaRPr lang="en-US" sz="1400" dirty="0"/>
          </a:p>
        </p:txBody>
      </p:sp>
      <p:sp>
        <p:nvSpPr>
          <p:cNvPr id="17" name="Future row 3"/>
          <p:cNvSpPr/>
          <p:nvPr/>
        </p:nvSpPr>
        <p:spPr>
          <a:xfrm>
            <a:off x="4663440" y="301752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18" name="Future 3 circle"/>
          <p:cNvSpPr/>
          <p:nvPr/>
        </p:nvSpPr>
        <p:spPr>
          <a:xfrm>
            <a:off x="4818888" y="311810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3" descr="Smartphon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044" y="3223260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94960" y="30175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Mobile-friendly QR event feedback</a:t>
            </a:r>
            <a:endParaRPr lang="en-US" sz="1400" dirty="0"/>
          </a:p>
        </p:txBody>
      </p:sp>
      <p:sp>
        <p:nvSpPr>
          <p:cNvPr id="21" name="Future row 4"/>
          <p:cNvSpPr/>
          <p:nvPr/>
        </p:nvSpPr>
        <p:spPr>
          <a:xfrm>
            <a:off x="4663440" y="3749040"/>
            <a:ext cx="4023360" cy="621792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B1840">
                <a:alpha val="12000"/>
              </a:srgbClr>
            </a:outerShdw>
          </a:effectLst>
        </p:spPr>
      </p:sp>
      <p:sp>
        <p:nvSpPr>
          <p:cNvPr id="22" name="Future 4 circle"/>
          <p:cNvSpPr/>
          <p:nvPr/>
        </p:nvSpPr>
        <p:spPr>
          <a:xfrm>
            <a:off x="4818888" y="3849624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4" descr="FileTex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44" y="3954780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37490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Department-wise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1"/>
          <p:cNvSpPr/>
          <p:nvPr/>
        </p:nvSpPr>
        <p:spPr>
          <a:xfrm>
            <a:off x="-1188720" y="3200400"/>
            <a:ext cx="3474720" cy="34747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Decor circle 2"/>
          <p:cNvSpPr/>
          <p:nvPr/>
        </p:nvSpPr>
        <p:spPr>
          <a:xfrm>
            <a:off x="3931920" y="-1371600"/>
            <a:ext cx="2743200" cy="2743200"/>
          </a:xfrm>
          <a:prstGeom prst="ellipse">
            <a:avLst/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OSSP PROJECT  •  </a:t>
            </a:r>
            <a:r>
              <a:rPr lang="en-US" sz="1200" b="1" kern="0" spc="200">
                <a:solidFill>
                  <a:schemeClr val="accent1"/>
                </a:solidFill>
              </a:rPr>
              <a:t>REVIEW 3  </a:t>
            </a:r>
            <a:r>
              <a:rPr lang="en-US" sz="1200" b="1" kern="0" spc="200" dirty="0">
                <a:solidFill>
                  <a:schemeClr val="accent1"/>
                </a:solidFill>
              </a:rPr>
              <a:t>•  2026–27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ProcessMind: From Student Voice to Intelligent Action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Questions &amp; suggestions welcome</a:t>
            </a:r>
            <a:endParaRPr lang="en-US" sz="1600" dirty="0"/>
          </a:p>
        </p:txBody>
      </p:sp>
      <p:sp>
        <p:nvSpPr>
          <p:cNvPr id="8" name="Team card tint"/>
          <p:cNvSpPr/>
          <p:nvPr/>
        </p:nvSpPr>
        <p:spPr>
          <a:xfrm>
            <a:off x="5760720" y="640080"/>
            <a:ext cx="2926080" cy="3840480"/>
          </a:xfrm>
          <a:prstGeom prst="roundRect">
            <a:avLst>
              <a:gd name="adj" fmla="val 3750"/>
            </a:avLst>
          </a:prstGeom>
          <a:solidFill>
            <a:schemeClr val="tx1">
              <a:alpha val="65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868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TEAM G-15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Priyanka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45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2510030540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Rishith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167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2510030182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B. Vineeth Reddy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2510030240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Fardan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2510030263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Alpansh Sharma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032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2510030356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Mind Forest">
  <a:themeElements>
    <a:clrScheme name="ProcessMind Forest">
      <a:dk1>
        <a:srgbClr val="1A2E28"/>
      </a:dk1>
      <a:lt1>
        <a:srgbClr val="FFFFFF"/>
      </a:lt1>
      <a:dk2>
        <a:srgbClr val="1F4D3A"/>
      </a:dk2>
      <a:lt2>
        <a:srgbClr val="EEF3F0"/>
      </a:lt2>
      <a:accent1>
        <a:srgbClr val="F97316"/>
      </a:accent1>
      <a:accent2>
        <a:srgbClr val="2F855A"/>
      </a:accent2>
      <a:accent3>
        <a:srgbClr val="EAB308"/>
      </a:accent3>
      <a:accent4>
        <a:srgbClr val="0EA5E9"/>
      </a:accent4>
      <a:accent5>
        <a:srgbClr val="16A34A"/>
      </a:accent5>
      <a:accent6>
        <a:srgbClr val="E11D48"/>
      </a:accent6>
      <a:hlink>
        <a:srgbClr val="F97316"/>
      </a:hlink>
      <a:folHlink>
        <a:srgbClr val="2F855A"/>
      </a:folHlink>
    </a:clrScheme>
    <a:fontScheme name="ProcessMind Forest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Calibri</vt:lpstr>
      <vt:lpstr>ProcessMind Forest</vt:lpstr>
      <vt:lpstr>ProcessMind</vt:lpstr>
      <vt:lpstr>What We Will Cover</vt:lpstr>
      <vt:lpstr>Problem and Solution</vt:lpstr>
      <vt:lpstr>How the Website Works</vt:lpstr>
      <vt:lpstr>Web Page Technologies</vt:lpstr>
      <vt:lpstr>Backend, Database &amp; Tools</vt:lpstr>
      <vt:lpstr>AI &amp; ML in Simple Words</vt:lpstr>
      <vt:lpstr>OS Concepts We Use</vt:lpstr>
      <vt:lpstr>Live Demo</vt:lpstr>
      <vt:lpstr>Outcomes and Benefits</vt:lpstr>
      <vt:lpstr>Conclusion &amp; Future Scope</vt:lpstr>
      <vt:lpstr>Thank You</vt:lpstr>
    </vt:vector>
  </TitlesOfParts>
  <Company>KL University, Aziznagar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ProcessMind - OSSP Review 4</dc:title>
  <dc:subject>PptxGenJS Presentation</dc:subject>
  <dc:creator>Team G-15</dc:creator>
  <cp:lastModifiedBy>Vineeth Reddy</cp:lastModifiedBy>
  <cp:revision>2</cp:revision>
  <dcterms:created xsi:type="dcterms:W3CDTF">2026-10-10T12:49:36Z</dcterms:created>
  <dcterms:modified xsi:type="dcterms:W3CDTF">2026-10-10T12:50:49Z</dcterms:modified>
</cp:coreProperties>
</file>