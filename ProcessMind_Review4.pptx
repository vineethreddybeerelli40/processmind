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19c815a-0627-7fa1-0bcd-0774d97f1add}">
          <p14:sldIdLst>
            <p14:sldId id="256"/>
            <p14:sldId id="257"/>
            <p14:sldId id="258"/>
            <p14:sldId id="259"/>
          </p14:sldIdLst>
        </p14:section>
        <p14:section name="Technology" id="{8af9bd4e-4f53-1acf-c785-e2a2abcf0e7d}">
          <p14:sldIdLst>
            <p14:sldId id="260"/>
            <p14:sldId id="261"/>
            <p14:sldId id="262"/>
            <p14:sldId id="263"/>
          </p14:sldIdLst>
        </p14:section>
        <p14:section name="Results" id="{252afa09-8b32-3ca2-39a7-de8123dcaaf1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the Review 4 presentation for ProcessMind, our AI-powered student feedback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simple topics: the problem, the flow, the web technologies, AI, OS concepts, and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Colleges already collect feedback. The challenge is understanding it at scale. ProcessMind adds the analysis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easy steps from a student's voice to a real improvement on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website is a React single-page app built with Vite. npm run dev from the repo root starts it on port 5173.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and database follow our proposal: FastAPI with PostgreSQL. Confirm which parts are already connected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reads each comment and tags it. Example shown uses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our OSSP subject connects with the project: queues, priority scheduling, threads and synchronization.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site at localhost:5173 and walk through these four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benefits the platform brings to students, admins and the college.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what we achieved and where the project can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4028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ProcessMind  |  OSSP Review 4  |  KL University, Aziznagar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OSSP PROJECT  •  REVIEW 4  •  2026–27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ProcessMind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AI-Powered Student Voice, Event Intelligence &amp; College Improvement Platform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KL University, Aziznagar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Computer Science and Engineering</a:t>
            </a:r>
            <a:endParaRPr lang="en-US" sz="1400" dirty="0"/>
          </a:p>
        </p:txBody>
      </p:sp>
      <p:sp>
        <p:nvSpPr>
          <p:cNvPr id="6" name="Team card tint"/>
          <p:cNvSpPr/>
          <p:nvPr/>
        </p:nvSpPr>
        <p:spPr>
          <a:xfrm>
            <a:off x="5760720" y="640080"/>
            <a:ext cx="2926080" cy="3840480"/>
          </a:xfrm>
          <a:prstGeom prst="roundRect">
            <a:avLst>
              <a:gd name="adj" fmla="val 3750"/>
            </a:avLst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35040" y="868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TEAM G-15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Priyanka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5453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2520030540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901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Rishitha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671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2510030182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Vineeth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2510030240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145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Fardan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410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2510030263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Alpansh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4032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2510030356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We Will Cover</a:t>
            </a:r>
            <a:endParaRPr lang="en-US" sz="3200" dirty="0"/>
          </a:p>
        </p:txBody>
      </p:sp>
      <p:sp>
        <p:nvSpPr>
          <p:cNvPr id="3" name="Agenda card 1"/>
          <p:cNvSpPr/>
          <p:nvPr/>
        </p:nvSpPr>
        <p:spPr>
          <a:xfrm>
            <a:off x="45720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Agenda 1 circle"/>
          <p:cNvSpPr/>
          <p:nvPr/>
        </p:nvSpPr>
        <p:spPr>
          <a:xfrm>
            <a:off x="662940" y="144018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mage 0" descr="Alert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5887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Problem &amp; Solution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Why we built it</a:t>
            </a:r>
            <a:endParaRPr lang="en-US" sz="1200" dirty="0"/>
          </a:p>
        </p:txBody>
      </p:sp>
      <p:sp>
        <p:nvSpPr>
          <p:cNvPr id="9" name="Agenda card 2"/>
          <p:cNvSpPr/>
          <p:nvPr/>
        </p:nvSpPr>
        <p:spPr>
          <a:xfrm>
            <a:off x="329184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Agenda 2 circle"/>
          <p:cNvSpPr/>
          <p:nvPr/>
        </p:nvSpPr>
        <p:spPr>
          <a:xfrm>
            <a:off x="3497580" y="14401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GitBran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15887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Student to action</a:t>
            </a:r>
            <a:endParaRPr lang="en-US" sz="1200" dirty="0"/>
          </a:p>
        </p:txBody>
      </p:sp>
      <p:sp>
        <p:nvSpPr>
          <p:cNvPr id="15" name="Agenda card 3"/>
          <p:cNvSpPr/>
          <p:nvPr/>
        </p:nvSpPr>
        <p:spPr>
          <a:xfrm>
            <a:off x="612648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Agenda 3 circle"/>
          <p:cNvSpPr/>
          <p:nvPr/>
        </p:nvSpPr>
        <p:spPr>
          <a:xfrm>
            <a:off x="6332220" y="14401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Monito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58877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5528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03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Web Technologies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 behind the site</a:t>
            </a:r>
            <a:endParaRPr lang="en-US" sz="1200" dirty="0"/>
          </a:p>
        </p:txBody>
      </p:sp>
      <p:sp>
        <p:nvSpPr>
          <p:cNvPr id="21" name="Agenda card 4"/>
          <p:cNvSpPr/>
          <p:nvPr/>
        </p:nvSpPr>
        <p:spPr>
          <a:xfrm>
            <a:off x="45720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2" name="Agenda 4 circle"/>
          <p:cNvSpPr/>
          <p:nvPr/>
        </p:nvSpPr>
        <p:spPr>
          <a:xfrm>
            <a:off x="662940" y="31318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3" descr="Cpu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328041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28600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&amp; ML Basics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How feedback is understood</a:t>
            </a:r>
            <a:endParaRPr lang="en-US" sz="1200" dirty="0"/>
          </a:p>
        </p:txBody>
      </p:sp>
      <p:sp>
        <p:nvSpPr>
          <p:cNvPr id="27" name="Agenda card 5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8" name="Agenda 5 circle"/>
          <p:cNvSpPr/>
          <p:nvPr/>
        </p:nvSpPr>
        <p:spPr>
          <a:xfrm>
            <a:off x="3497580" y="31318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9" name="Image 4" descr="Layer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6170" y="3280410"/>
            <a:ext cx="297180" cy="2971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12064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05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3520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OS Concepts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352044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Queues, scheduling, threads</a:t>
            </a:r>
            <a:endParaRPr lang="en-US" sz="1200" dirty="0"/>
          </a:p>
        </p:txBody>
      </p:sp>
      <p:sp>
        <p:nvSpPr>
          <p:cNvPr id="33" name="Agenda card 6"/>
          <p:cNvSpPr/>
          <p:nvPr/>
        </p:nvSpPr>
        <p:spPr>
          <a:xfrm>
            <a:off x="612648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34" name="Agenda 6 circle"/>
          <p:cNvSpPr/>
          <p:nvPr/>
        </p:nvSpPr>
        <p:spPr>
          <a:xfrm>
            <a:off x="6332220" y="313182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5" name="Image 5" descr="Play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810" y="3280410"/>
            <a:ext cx="297180" cy="29718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95528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06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635508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Demo &amp; Outcomes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635508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 the site delivers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and Solution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3749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Problem circle"/>
          <p:cNvSpPr/>
          <p:nvPr/>
        </p:nvSpPr>
        <p:spPr>
          <a:xfrm>
            <a:off x="594360" y="132588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mage 0" descr="Alert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Colleges collect a lot of feedback, but reading it manually is slow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Repeated issues can go unnoticed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Forms collect answers but do not explain them</a:t>
            </a:r>
            <a:endParaRPr lang="en-US" sz="1400" dirty="0"/>
          </a:p>
        </p:txBody>
      </p:sp>
      <p:sp>
        <p:nvSpPr>
          <p:cNvPr id="8" name="Solution card"/>
          <p:cNvSpPr/>
          <p:nvPr/>
        </p:nvSpPr>
        <p:spPr>
          <a:xfrm>
            <a:off x="4937760" y="1188720"/>
            <a:ext cx="3749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Solution circle"/>
          <p:cNvSpPr/>
          <p:nvPr/>
        </p:nvSpPr>
        <p:spPr>
          <a:xfrm>
            <a:off x="507492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Our Solution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212080" y="20574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Students give feedback anonymously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finds the mood, topic and urgency of each comment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Admins see priorities and suggested actions</a:t>
            </a:r>
            <a:endParaRPr lang="en-US" sz="1400" dirty="0"/>
          </a:p>
        </p:txBody>
      </p:sp>
      <p:sp>
        <p:nvSpPr>
          <p:cNvPr id="13" name="Arrow circle"/>
          <p:cNvSpPr/>
          <p:nvPr/>
        </p:nvSpPr>
        <p:spPr>
          <a:xfrm>
            <a:off x="4343400" y="22585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2" descr="ArrowRigh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372868"/>
            <a:ext cx="228600" cy="228600"/>
          </a:xfrm>
          <a:prstGeom prst="rect">
            <a:avLst/>
          </a:prstGeom>
        </p:spPr>
      </p:pic>
      <p:sp>
        <p:nvSpPr>
          <p:cNvPr id="15" name="Takeaway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ProcessMind adds an intelligent layer on top of existing feedback forms. It does not replace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Website Works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80160"/>
            <a:ext cx="1463040" cy="23317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Step 1 circle"/>
          <p:cNvSpPr/>
          <p:nvPr/>
        </p:nvSpPr>
        <p:spPr>
          <a:xfrm>
            <a:off x="800100" y="14859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Us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6802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Student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724912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Opens the site or scans a QR code</a:t>
            </a:r>
            <a:endParaRPr lang="en-US" sz="1200" dirty="0"/>
          </a:p>
        </p:txBody>
      </p:sp>
      <p:sp>
        <p:nvSpPr>
          <p:cNvPr id="8" name="Link 1 circle"/>
          <p:cNvSpPr/>
          <p:nvPr/>
        </p:nvSpPr>
        <p:spPr>
          <a:xfrm>
            <a:off x="1897380" y="1737360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1" descr="Arrow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805940"/>
            <a:ext cx="137160" cy="137160"/>
          </a:xfrm>
          <a:prstGeom prst="rect">
            <a:avLst/>
          </a:prstGeom>
        </p:spPr>
      </p:pic>
      <p:sp>
        <p:nvSpPr>
          <p:cNvPr id="10" name="Step card 2"/>
          <p:cNvSpPr/>
          <p:nvPr/>
        </p:nvSpPr>
        <p:spPr>
          <a:xfrm>
            <a:off x="2148840" y="1280160"/>
            <a:ext cx="1463040" cy="23317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1" name="Step 2 circle"/>
          <p:cNvSpPr/>
          <p:nvPr/>
        </p:nvSpPr>
        <p:spPr>
          <a:xfrm>
            <a:off x="2491740" y="148590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mage 2" descr="MessageSquar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168021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24028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Feedback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258568" y="2724912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Writes anonymous feedback</a:t>
            </a:r>
            <a:endParaRPr lang="en-US" sz="1200" dirty="0"/>
          </a:p>
        </p:txBody>
      </p:sp>
      <p:sp>
        <p:nvSpPr>
          <p:cNvPr id="15" name="Link 2 circle"/>
          <p:cNvSpPr/>
          <p:nvPr/>
        </p:nvSpPr>
        <p:spPr>
          <a:xfrm>
            <a:off x="3589020" y="1737360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3" descr="ArrowRigh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805940"/>
            <a:ext cx="137160" cy="137160"/>
          </a:xfrm>
          <a:prstGeom prst="rect">
            <a:avLst/>
          </a:prstGeom>
        </p:spPr>
      </p:pic>
      <p:sp>
        <p:nvSpPr>
          <p:cNvPr id="17" name="Step card 3"/>
          <p:cNvSpPr/>
          <p:nvPr/>
        </p:nvSpPr>
        <p:spPr>
          <a:xfrm>
            <a:off x="3840480" y="1280160"/>
            <a:ext cx="1463040" cy="23317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8" name="Step 3 circle"/>
          <p:cNvSpPr/>
          <p:nvPr/>
        </p:nvSpPr>
        <p:spPr>
          <a:xfrm>
            <a:off x="4183380" y="14859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4" descr="Cpu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690" y="1680210"/>
            <a:ext cx="388620" cy="3886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93192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+ OS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3950208" y="2724912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Tasks are queued and analysed</a:t>
            </a:r>
            <a:endParaRPr lang="en-US" sz="1200" dirty="0"/>
          </a:p>
        </p:txBody>
      </p:sp>
      <p:sp>
        <p:nvSpPr>
          <p:cNvPr id="22" name="Link 3 circle"/>
          <p:cNvSpPr/>
          <p:nvPr/>
        </p:nvSpPr>
        <p:spPr>
          <a:xfrm>
            <a:off x="5280660" y="1737360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5" descr="ArrowRigh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805940"/>
            <a:ext cx="137160" cy="137160"/>
          </a:xfrm>
          <a:prstGeom prst="rect">
            <a:avLst/>
          </a:prstGeom>
        </p:spPr>
      </p:pic>
      <p:sp>
        <p:nvSpPr>
          <p:cNvPr id="24" name="Step card 4"/>
          <p:cNvSpPr/>
          <p:nvPr/>
        </p:nvSpPr>
        <p:spPr>
          <a:xfrm>
            <a:off x="5532120" y="1280160"/>
            <a:ext cx="1463040" cy="23317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5" name="Step 4 circle"/>
          <p:cNvSpPr/>
          <p:nvPr/>
        </p:nvSpPr>
        <p:spPr>
          <a:xfrm>
            <a:off x="5875020" y="14859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6" descr="BarChart2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9330" y="1680210"/>
            <a:ext cx="388620" cy="3886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62356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Dashboard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5641848" y="2724912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 sees insights and priority</a:t>
            </a:r>
            <a:endParaRPr lang="en-US" sz="1200" dirty="0"/>
          </a:p>
        </p:txBody>
      </p:sp>
      <p:sp>
        <p:nvSpPr>
          <p:cNvPr id="29" name="Link 4 circle"/>
          <p:cNvSpPr/>
          <p:nvPr/>
        </p:nvSpPr>
        <p:spPr>
          <a:xfrm>
            <a:off x="6972300" y="1737360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Image 7" descr="ArrowRight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1805940"/>
            <a:ext cx="137160" cy="137160"/>
          </a:xfrm>
          <a:prstGeom prst="rect">
            <a:avLst/>
          </a:prstGeom>
        </p:spPr>
      </p:pic>
      <p:sp>
        <p:nvSpPr>
          <p:cNvPr id="31" name="Step card 5"/>
          <p:cNvSpPr/>
          <p:nvPr/>
        </p:nvSpPr>
        <p:spPr>
          <a:xfrm>
            <a:off x="7223760" y="1280160"/>
            <a:ext cx="1463040" cy="23317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32" name="Step 5 circle"/>
          <p:cNvSpPr/>
          <p:nvPr/>
        </p:nvSpPr>
        <p:spPr>
          <a:xfrm>
            <a:off x="7566660" y="148590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3" name="Image 8" descr="Flag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0970" y="1680210"/>
            <a:ext cx="388620" cy="38862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31520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Action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7333488" y="2724912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Issue is fixed and tracked</a:t>
            </a:r>
            <a:endParaRPr lang="en-US" sz="1200" dirty="0"/>
          </a:p>
        </p:txBody>
      </p:sp>
      <p:sp>
        <p:nvSpPr>
          <p:cNvPr id="36" name="Note card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37" name="Anonymous circle"/>
          <p:cNvSpPr/>
          <p:nvPr/>
        </p:nvSpPr>
        <p:spPr>
          <a:xfrm>
            <a:off x="676656" y="4014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mage 9" descr="Lock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668" y="4110228"/>
            <a:ext cx="192024" cy="192024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234440" y="3886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Feedback stays anonymous. AI supports decisions; people take the final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Web Page Technologies</a:t>
            </a:r>
            <a:endParaRPr lang="en-US" sz="3200" dirty="0"/>
          </a:p>
        </p:txBody>
      </p:sp>
      <p:sp>
        <p:nvSpPr>
          <p:cNvPr id="3" name="Tech card 1"/>
          <p:cNvSpPr/>
          <p:nvPr/>
        </p:nvSpPr>
        <p:spPr>
          <a:xfrm>
            <a:off x="457200" y="11887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Tech 1 circle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o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44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React.js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Builds the pages from reusable parts</a:t>
            </a:r>
            <a:endParaRPr lang="en-US" sz="1200" dirty="0"/>
          </a:p>
        </p:txBody>
      </p:sp>
      <p:sp>
        <p:nvSpPr>
          <p:cNvPr id="8" name="Tech card 2"/>
          <p:cNvSpPr/>
          <p:nvPr/>
        </p:nvSpPr>
        <p:spPr>
          <a:xfrm>
            <a:off x="3291840" y="11887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Tech 2 circle"/>
          <p:cNvSpPr/>
          <p:nvPr/>
        </p:nvSpPr>
        <p:spPr>
          <a:xfrm>
            <a:off x="3474720" y="15087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Za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6240" y="1444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Vite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20624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Fast dev server and build tool</a:t>
            </a:r>
            <a:endParaRPr lang="en-US" sz="1200" dirty="0"/>
          </a:p>
        </p:txBody>
      </p:sp>
      <p:sp>
        <p:nvSpPr>
          <p:cNvPr id="13" name="Tech card 3"/>
          <p:cNvSpPr/>
          <p:nvPr/>
        </p:nvSpPr>
        <p:spPr>
          <a:xfrm>
            <a:off x="6126480" y="11887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4" name="Tech 3 circle"/>
          <p:cNvSpPr/>
          <p:nvPr/>
        </p:nvSpPr>
        <p:spPr>
          <a:xfrm>
            <a:off x="6309360" y="15087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Gri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40880" y="1444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Tailwind CSS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04088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Quick, consistent styling and theme</a:t>
            </a:r>
            <a:endParaRPr lang="en-US" sz="1200" dirty="0"/>
          </a:p>
        </p:txBody>
      </p:sp>
      <p:sp>
        <p:nvSpPr>
          <p:cNvPr id="18" name="Tech card 4"/>
          <p:cNvSpPr/>
          <p:nvPr/>
        </p:nvSpPr>
        <p:spPr>
          <a:xfrm>
            <a:off x="457200" y="265176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9" name="Tech 4 circle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FileTex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1318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HTML5 + CSS3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371600" y="3246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Page structure and basic styles</a:t>
            </a:r>
            <a:endParaRPr lang="en-US" sz="1200" dirty="0"/>
          </a:p>
        </p:txBody>
      </p:sp>
      <p:sp>
        <p:nvSpPr>
          <p:cNvPr id="23" name="Tech card 5"/>
          <p:cNvSpPr/>
          <p:nvPr/>
        </p:nvSpPr>
        <p:spPr>
          <a:xfrm>
            <a:off x="3291840" y="265176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4" name="Tech 5 circle"/>
          <p:cNvSpPr/>
          <p:nvPr/>
        </p:nvSpPr>
        <p:spPr>
          <a:xfrm>
            <a:off x="3474720" y="29718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mage 4" descr="PieChar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740" y="31318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20624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Recharts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206240" y="3246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Charts for sentiment and trends</a:t>
            </a:r>
            <a:endParaRPr lang="en-US" sz="1200" dirty="0"/>
          </a:p>
        </p:txBody>
      </p:sp>
      <p:sp>
        <p:nvSpPr>
          <p:cNvPr id="28" name="Tech card 6"/>
          <p:cNvSpPr/>
          <p:nvPr/>
        </p:nvSpPr>
        <p:spPr>
          <a:xfrm>
            <a:off x="6126480" y="265176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9" name="Tech 6 circle"/>
          <p:cNvSpPr/>
          <p:nvPr/>
        </p:nvSpPr>
        <p:spPr>
          <a:xfrm>
            <a:off x="6309360" y="29718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0" name="Image 5" descr="Shuffl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313182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4088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React Flow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7040880" y="3246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Diagrams of the processing pipeline</a:t>
            </a:r>
            <a:endParaRPr lang="en-US" sz="1200" dirty="0"/>
          </a:p>
        </p:txBody>
      </p:sp>
      <p:sp>
        <p:nvSpPr>
          <p:cNvPr id="33" name="Run bar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locally: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npm run dev   →   http://localhost:5173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Backend, Database &amp; Tools</a:t>
            </a:r>
            <a:endParaRPr lang="en-US" sz="3200" dirty="0"/>
          </a:p>
        </p:txBody>
      </p:sp>
      <p:sp>
        <p:nvSpPr>
          <p:cNvPr id="3" name="Stack card 1"/>
          <p:cNvSpPr/>
          <p:nvPr/>
        </p:nvSpPr>
        <p:spPr>
          <a:xfrm>
            <a:off x="457200" y="118872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Stack 1 circle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Serv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BACKEND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+ FastAPI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Receives feedback and runs the AI tasks</a:t>
            </a:r>
            <a:endParaRPr lang="en-US" sz="1400" dirty="0"/>
          </a:p>
        </p:txBody>
      </p:sp>
      <p:sp>
        <p:nvSpPr>
          <p:cNvPr id="9" name="Stack card 2"/>
          <p:cNvSpPr/>
          <p:nvPr/>
        </p:nvSpPr>
        <p:spPr>
          <a:xfrm>
            <a:off x="3291840" y="118872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0" name="Stack 2 circle"/>
          <p:cNvSpPr/>
          <p:nvPr/>
        </p:nvSpPr>
        <p:spPr>
          <a:xfrm>
            <a:off x="352044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Datab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5773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97680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DATABASE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Stores feedback, results and events safely</a:t>
            </a:r>
            <a:endParaRPr lang="en-US" sz="1400" dirty="0"/>
          </a:p>
        </p:txBody>
      </p:sp>
      <p:sp>
        <p:nvSpPr>
          <p:cNvPr id="15" name="Stack card 3"/>
          <p:cNvSpPr/>
          <p:nvPr/>
        </p:nvSpPr>
        <p:spPr>
          <a:xfrm>
            <a:off x="6126480" y="118872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Stack 3 circle"/>
          <p:cNvSpPr/>
          <p:nvPr/>
        </p:nvSpPr>
        <p:spPr>
          <a:xfrm>
            <a:off x="6355080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Clou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5773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32320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13232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GitHub Pages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site for the team; cloud hosting planned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DEVELOPMENT TOOLS</a:t>
            </a:r>
            <a:endParaRPr lang="en-US" sz="1200" dirty="0"/>
          </a:p>
        </p:txBody>
      </p:sp>
      <p:sp>
        <p:nvSpPr>
          <p:cNvPr id="22" name="Tool pill VS Code"/>
          <p:cNvSpPr/>
          <p:nvPr/>
        </p:nvSpPr>
        <p:spPr>
          <a:xfrm>
            <a:off x="457200" y="3931920"/>
            <a:ext cx="18745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 Code</a:t>
            </a:r>
            <a:endParaRPr lang="en-US" sz="1400" dirty="0"/>
          </a:p>
        </p:txBody>
      </p:sp>
      <p:sp>
        <p:nvSpPr>
          <p:cNvPr id="24" name="Tool pill Git"/>
          <p:cNvSpPr/>
          <p:nvPr/>
        </p:nvSpPr>
        <p:spPr>
          <a:xfrm>
            <a:off x="2542032" y="3931920"/>
            <a:ext cx="18745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2542032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Git</a:t>
            </a:r>
            <a:endParaRPr lang="en-US" sz="1400" dirty="0"/>
          </a:p>
        </p:txBody>
      </p:sp>
      <p:sp>
        <p:nvSpPr>
          <p:cNvPr id="26" name="Tool pill GitHub"/>
          <p:cNvSpPr/>
          <p:nvPr/>
        </p:nvSpPr>
        <p:spPr>
          <a:xfrm>
            <a:off x="4626864" y="3931920"/>
            <a:ext cx="18745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626864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GitHub</a:t>
            </a:r>
            <a:endParaRPr lang="en-US" sz="1400" dirty="0"/>
          </a:p>
        </p:txBody>
      </p:sp>
      <p:sp>
        <p:nvSpPr>
          <p:cNvPr id="28" name="Tool pill Postman"/>
          <p:cNvSpPr/>
          <p:nvPr/>
        </p:nvSpPr>
        <p:spPr>
          <a:xfrm>
            <a:off x="6711696" y="3931920"/>
            <a:ext cx="18745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711696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Postman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&amp; ML in Simple Words</a:t>
            </a:r>
            <a:endParaRPr lang="en-US" sz="3200" dirty="0"/>
          </a:p>
        </p:txBody>
      </p:sp>
      <p:sp>
        <p:nvSpPr>
          <p:cNvPr id="3" name="AI row 1"/>
          <p:cNvSpPr/>
          <p:nvPr/>
        </p:nvSpPr>
        <p:spPr>
          <a:xfrm>
            <a:off x="457200" y="1188720"/>
            <a:ext cx="4114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4" name="AI 1 circle"/>
          <p:cNvSpPr/>
          <p:nvPr/>
        </p:nvSpPr>
        <p:spPr>
          <a:xfrm>
            <a:off x="594360" y="1289304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Smi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03604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43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Sentiment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Is the comment positive or negative?</a:t>
            </a:r>
            <a:endParaRPr lang="en-US" sz="1200" dirty="0"/>
          </a:p>
        </p:txBody>
      </p:sp>
      <p:sp>
        <p:nvSpPr>
          <p:cNvPr id="8" name="AI row 2"/>
          <p:cNvSpPr/>
          <p:nvPr/>
        </p:nvSpPr>
        <p:spPr>
          <a:xfrm>
            <a:off x="457200" y="1965960"/>
            <a:ext cx="4114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9" name="AI 2 circle"/>
          <p:cNvSpPr/>
          <p:nvPr/>
        </p:nvSpPr>
        <p:spPr>
          <a:xfrm>
            <a:off x="594360" y="206654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Ta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180844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020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Topic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2295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 is it about: Wi-Fi, canteen, labs?</a:t>
            </a:r>
            <a:endParaRPr lang="en-US" sz="1200" dirty="0"/>
          </a:p>
        </p:txBody>
      </p:sp>
      <p:sp>
        <p:nvSpPr>
          <p:cNvPr id="13" name="AI row 3"/>
          <p:cNvSpPr/>
          <p:nvPr/>
        </p:nvSpPr>
        <p:spPr>
          <a:xfrm>
            <a:off x="457200" y="2743200"/>
            <a:ext cx="4114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4" name="AI 3 circle"/>
          <p:cNvSpPr/>
          <p:nvPr/>
        </p:nvSpPr>
        <p:spPr>
          <a:xfrm>
            <a:off x="594360" y="2843784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mage 2" descr="AlertTriang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958084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798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Severity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How serious is the problem?</a:t>
            </a:r>
            <a:endParaRPr lang="en-US" sz="1200" dirty="0"/>
          </a:p>
        </p:txBody>
      </p:sp>
      <p:sp>
        <p:nvSpPr>
          <p:cNvPr id="18" name="AI row 4"/>
          <p:cNvSpPr/>
          <p:nvPr/>
        </p:nvSpPr>
        <p:spPr>
          <a:xfrm>
            <a:off x="457200" y="3520440"/>
            <a:ext cx="4114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9" name="AI 4 circle"/>
          <p:cNvSpPr/>
          <p:nvPr/>
        </p:nvSpPr>
        <p:spPr>
          <a:xfrm>
            <a:off x="594360" y="362102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TrendingU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3735324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575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Priority &amp; Trend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188720" y="3849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 to fix first, and is it repeating?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Python · Pandas · NumPy · Scikit-learn · NLP</a:t>
            </a:r>
            <a:endParaRPr lang="en-US" sz="1200" dirty="0"/>
          </a:p>
        </p:txBody>
      </p:sp>
      <p:sp>
        <p:nvSpPr>
          <p:cNvPr id="24" name="Example card"/>
          <p:cNvSpPr/>
          <p:nvPr/>
        </p:nvSpPr>
        <p:spPr>
          <a:xfrm>
            <a:off x="4846320" y="1188720"/>
            <a:ext cx="384048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120640" y="1371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SAMPLE INPUT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12064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“The Wi-Fi keeps disconnecting in Block B. Students cannot attend online classes.”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120640" y="2606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AI OUTPUT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12064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Topic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49224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Wi-Fi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120640" y="3209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Sentiment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6492240" y="3209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Negative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5120640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Severity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6492240" y="3538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High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512064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Priority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6492240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High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484632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Sample / demo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OS Concepts We Use</a:t>
            </a:r>
            <a:endParaRPr lang="en-US" sz="3200" dirty="0"/>
          </a:p>
        </p:txBody>
      </p:sp>
      <p:sp>
        <p:nvSpPr>
          <p:cNvPr id="3" name="OS row 1"/>
          <p:cNvSpPr/>
          <p:nvPr/>
        </p:nvSpPr>
        <p:spPr>
          <a:xfrm>
            <a:off x="457200" y="1188720"/>
            <a:ext cx="45720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4" name="OS 1 circle"/>
          <p:cNvSpPr/>
          <p:nvPr/>
        </p:nvSpPr>
        <p:spPr>
          <a:xfrm>
            <a:off x="603504" y="1307592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Lis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426464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Task Queue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Feedback waits in line, none is lost</a:t>
            </a:r>
            <a:endParaRPr lang="en-US" sz="1200" dirty="0"/>
          </a:p>
        </p:txBody>
      </p:sp>
      <p:sp>
        <p:nvSpPr>
          <p:cNvPr id="8" name="OS row 2"/>
          <p:cNvSpPr/>
          <p:nvPr/>
        </p:nvSpPr>
        <p:spPr>
          <a:xfrm>
            <a:off x="457200" y="2011680"/>
            <a:ext cx="45720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9" name="OS 2 circle"/>
          <p:cNvSpPr/>
          <p:nvPr/>
        </p:nvSpPr>
        <p:spPr>
          <a:xfrm>
            <a:off x="603504" y="2130552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mage 1" descr="Targe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Priority Scheduling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Urgent issues are processed first</a:t>
            </a:r>
            <a:endParaRPr lang="en-US" sz="1200" dirty="0"/>
          </a:p>
        </p:txBody>
      </p:sp>
      <p:sp>
        <p:nvSpPr>
          <p:cNvPr id="13" name="OS row 3"/>
          <p:cNvSpPr/>
          <p:nvPr/>
        </p:nvSpPr>
        <p:spPr>
          <a:xfrm>
            <a:off x="457200" y="2834640"/>
            <a:ext cx="45720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4" name="OS 3 circle"/>
          <p:cNvSpPr/>
          <p:nvPr/>
        </p:nvSpPr>
        <p:spPr>
          <a:xfrm>
            <a:off x="603504" y="295351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Lay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0723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Threads &amp; Processes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Many analyses run at the same time</a:t>
            </a:r>
            <a:endParaRPr lang="en-US" sz="1200" dirty="0"/>
          </a:p>
        </p:txBody>
      </p:sp>
      <p:sp>
        <p:nvSpPr>
          <p:cNvPr id="18" name="OS row 4"/>
          <p:cNvSpPr/>
          <p:nvPr/>
        </p:nvSpPr>
        <p:spPr>
          <a:xfrm>
            <a:off x="457200" y="3657600"/>
            <a:ext cx="45720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9" name="OS 4 circle"/>
          <p:cNvSpPr/>
          <p:nvPr/>
        </p:nvSpPr>
        <p:spPr>
          <a:xfrm>
            <a:off x="603504" y="3776472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Lo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89534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Synchronization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2801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Tasks share data without clashing</a:t>
            </a:r>
            <a:endParaRPr lang="en-US" sz="1200" dirty="0"/>
          </a:p>
        </p:txBody>
      </p:sp>
      <p:sp>
        <p:nvSpPr>
          <p:cNvPr id="23" name="Pipeline panel"/>
          <p:cNvSpPr/>
          <p:nvPr/>
        </p:nvSpPr>
        <p:spPr>
          <a:xfrm>
            <a:off x="5303520" y="1188720"/>
            <a:ext cx="3383280" cy="3163824"/>
          </a:xfrm>
          <a:prstGeom prst="roundRect">
            <a:avLst>
              <a:gd name="adj" fmla="val 3468"/>
            </a:avLst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532120" y="1325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PROCESSING PIPELINE</a:t>
            </a:r>
            <a:endParaRPr lang="en-US" sz="1200" dirty="0"/>
          </a:p>
        </p:txBody>
      </p:sp>
      <p:sp>
        <p:nvSpPr>
          <p:cNvPr id="25" name="Queue High"/>
          <p:cNvSpPr/>
          <p:nvPr/>
        </p:nvSpPr>
        <p:spPr>
          <a:xfrm>
            <a:off x="5532120" y="1783080"/>
            <a:ext cx="91440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53212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High</a:t>
            </a:r>
            <a:endParaRPr lang="en-US" sz="1200" dirty="0"/>
          </a:p>
        </p:txBody>
      </p:sp>
      <p:sp>
        <p:nvSpPr>
          <p:cNvPr id="27" name="Queue arrow High"/>
          <p:cNvSpPr/>
          <p:nvPr/>
        </p:nvSpPr>
        <p:spPr>
          <a:xfrm>
            <a:off x="6492240" y="2034540"/>
            <a:ext cx="36576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8" name="Queue Medium"/>
          <p:cNvSpPr/>
          <p:nvPr/>
        </p:nvSpPr>
        <p:spPr>
          <a:xfrm>
            <a:off x="5532120" y="2468880"/>
            <a:ext cx="91440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5532120" y="2468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Medium</a:t>
            </a:r>
            <a:endParaRPr lang="en-US" sz="1200" dirty="0"/>
          </a:p>
        </p:txBody>
      </p:sp>
      <p:sp>
        <p:nvSpPr>
          <p:cNvPr id="30" name="Queue arrow Medium"/>
          <p:cNvSpPr/>
          <p:nvPr/>
        </p:nvSpPr>
        <p:spPr>
          <a:xfrm>
            <a:off x="6492240" y="2720340"/>
            <a:ext cx="36576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1" name="Queue Low"/>
          <p:cNvSpPr/>
          <p:nvPr/>
        </p:nvSpPr>
        <p:spPr>
          <a:xfrm>
            <a:off x="5532120" y="3154680"/>
            <a:ext cx="9144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5532120" y="3154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Low</a:t>
            </a:r>
            <a:endParaRPr lang="en-US" sz="1200" dirty="0"/>
          </a:p>
        </p:txBody>
      </p:sp>
      <p:sp>
        <p:nvSpPr>
          <p:cNvPr id="33" name="Queue arrow Low"/>
          <p:cNvSpPr/>
          <p:nvPr/>
        </p:nvSpPr>
        <p:spPr>
          <a:xfrm>
            <a:off x="6492240" y="3406140"/>
            <a:ext cx="36576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4" name="Scheduler"/>
          <p:cNvSpPr/>
          <p:nvPr/>
        </p:nvSpPr>
        <p:spPr>
          <a:xfrm>
            <a:off x="6903720" y="1783080"/>
            <a:ext cx="594360" cy="187452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pic>
        <p:nvPicPr>
          <p:cNvPr id="35" name="Image 4" descr="Schedule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2560320"/>
            <a:ext cx="274320" cy="274320"/>
          </a:xfrm>
          <a:prstGeom prst="rect">
            <a:avLst/>
          </a:prstGeom>
        </p:spPr>
      </p:pic>
      <p:sp>
        <p:nvSpPr>
          <p:cNvPr id="36" name="Worker arrow 0"/>
          <p:cNvSpPr/>
          <p:nvPr/>
        </p:nvSpPr>
        <p:spPr>
          <a:xfrm>
            <a:off x="7543800" y="2034540"/>
            <a:ext cx="27432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7" name="Worker 1 circle"/>
          <p:cNvSpPr/>
          <p:nvPr/>
        </p:nvSpPr>
        <p:spPr>
          <a:xfrm>
            <a:off x="788670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mage 5" descr="Cpu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2430" y="1908810"/>
            <a:ext cx="251460" cy="251460"/>
          </a:xfrm>
          <a:prstGeom prst="rect">
            <a:avLst/>
          </a:prstGeom>
        </p:spPr>
      </p:pic>
      <p:sp>
        <p:nvSpPr>
          <p:cNvPr id="39" name="Worker arrow 1"/>
          <p:cNvSpPr/>
          <p:nvPr/>
        </p:nvSpPr>
        <p:spPr>
          <a:xfrm>
            <a:off x="7543800" y="2720340"/>
            <a:ext cx="27432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40" name="Worker 2 circle"/>
          <p:cNvSpPr/>
          <p:nvPr/>
        </p:nvSpPr>
        <p:spPr>
          <a:xfrm>
            <a:off x="7886700" y="2468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6" descr="Cpu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2430" y="2594610"/>
            <a:ext cx="251460" cy="251460"/>
          </a:xfrm>
          <a:prstGeom prst="rect">
            <a:avLst/>
          </a:prstGeom>
        </p:spPr>
      </p:pic>
      <p:sp>
        <p:nvSpPr>
          <p:cNvPr id="42" name="Worker arrow 2"/>
          <p:cNvSpPr/>
          <p:nvPr/>
        </p:nvSpPr>
        <p:spPr>
          <a:xfrm>
            <a:off x="7543800" y="3406140"/>
            <a:ext cx="27432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43" name="Worker 3 circle"/>
          <p:cNvSpPr/>
          <p:nvPr/>
        </p:nvSpPr>
        <p:spPr>
          <a:xfrm>
            <a:off x="788670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" name="Image 7" descr="Cpu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2430" y="3280410"/>
            <a:ext cx="251460" cy="25146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53212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Queue  →  Scheduler  →  Workers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Live Demo</a:t>
            </a:r>
            <a:endParaRPr lang="en-US" sz="3200" dirty="0"/>
          </a:p>
        </p:txBody>
      </p:sp>
      <p:sp>
        <p:nvSpPr>
          <p:cNvPr id="3" name="Browser window"/>
          <p:cNvSpPr/>
          <p:nvPr/>
        </p:nvSpPr>
        <p:spPr>
          <a:xfrm>
            <a:off x="457200" y="1188720"/>
            <a:ext cx="51206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B1840">
                <a:alpha val="12000"/>
              </a:srgbClr>
            </a:outerShdw>
          </a:effectLst>
        </p:spPr>
      </p:sp>
      <p:sp>
        <p:nvSpPr>
          <p:cNvPr id="4" name="Browser bar"/>
          <p:cNvSpPr/>
          <p:nvPr/>
        </p:nvSpPr>
        <p:spPr>
          <a:xfrm>
            <a:off x="457200" y="1188720"/>
            <a:ext cx="5120640" cy="411480"/>
          </a:xfrm>
          <a:prstGeom prst="roundRect">
            <a:avLst>
              <a:gd name="adj" fmla="val 26667"/>
            </a:avLst>
          </a:prstGeom>
          <a:solidFill>
            <a:schemeClr val="tx2"/>
          </a:solidFill>
          <a:ln/>
        </p:spPr>
      </p:sp>
      <p:sp>
        <p:nvSpPr>
          <p:cNvPr id="5" name="Dot 0"/>
          <p:cNvSpPr/>
          <p:nvPr/>
        </p:nvSpPr>
        <p:spPr>
          <a:xfrm>
            <a:off x="640080" y="1335024"/>
            <a:ext cx="118872" cy="11887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6" name="Dot 1"/>
          <p:cNvSpPr/>
          <p:nvPr/>
        </p:nvSpPr>
        <p:spPr>
          <a:xfrm>
            <a:off x="841248" y="1335024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Dot 2"/>
          <p:cNvSpPr/>
          <p:nvPr/>
        </p:nvSpPr>
        <p:spPr>
          <a:xfrm>
            <a:off x="1042416" y="1335024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URL pill"/>
          <p:cNvSpPr/>
          <p:nvPr/>
        </p:nvSpPr>
        <p:spPr>
          <a:xfrm>
            <a:off x="1417320" y="1271016"/>
            <a:ext cx="2926080" cy="246888"/>
          </a:xfrm>
          <a:prstGeom prst="roundRect">
            <a:avLst>
              <a:gd name="adj" fmla="val 4814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17320" y="127101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localhost:5173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Priority Dashboard</a:t>
            </a:r>
            <a:endParaRPr lang="en-US" sz="1600" dirty="0"/>
          </a:p>
        </p:txBody>
      </p:sp>
      <p:sp>
        <p:nvSpPr>
          <p:cNvPr id="11" name="Demo row 1"/>
          <p:cNvSpPr/>
          <p:nvPr/>
        </p:nvSpPr>
        <p:spPr>
          <a:xfrm>
            <a:off x="731520" y="2240280"/>
            <a:ext cx="45720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24028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Wi-Fi disconnects in Block B</a:t>
            </a:r>
            <a:endParaRPr lang="en-US" sz="1400" dirty="0"/>
          </a:p>
        </p:txBody>
      </p:sp>
      <p:sp>
        <p:nvSpPr>
          <p:cNvPr id="13" name="Badge 1"/>
          <p:cNvSpPr/>
          <p:nvPr/>
        </p:nvSpPr>
        <p:spPr>
          <a:xfrm>
            <a:off x="4160520" y="235915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60520" y="2359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High</a:t>
            </a:r>
            <a:endParaRPr lang="en-US" sz="1200" dirty="0"/>
          </a:p>
        </p:txBody>
      </p:sp>
      <p:sp>
        <p:nvSpPr>
          <p:cNvPr id="15" name="Demo row 2"/>
          <p:cNvSpPr/>
          <p:nvPr/>
        </p:nvSpPr>
        <p:spPr>
          <a:xfrm>
            <a:off x="731520" y="2880360"/>
            <a:ext cx="45720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8803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 queue at canteen</a:t>
            </a:r>
            <a:endParaRPr lang="en-US" sz="1400" dirty="0"/>
          </a:p>
        </p:txBody>
      </p:sp>
      <p:sp>
        <p:nvSpPr>
          <p:cNvPr id="17" name="Badge 2"/>
          <p:cNvSpPr/>
          <p:nvPr/>
        </p:nvSpPr>
        <p:spPr>
          <a:xfrm>
            <a:off x="4160520" y="299923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0520" y="2999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Medium</a:t>
            </a:r>
            <a:endParaRPr lang="en-US" sz="1200" dirty="0"/>
          </a:p>
        </p:txBody>
      </p:sp>
      <p:sp>
        <p:nvSpPr>
          <p:cNvPr id="19" name="Demo row 3"/>
          <p:cNvSpPr/>
          <p:nvPr/>
        </p:nvSpPr>
        <p:spPr>
          <a:xfrm>
            <a:off x="731520" y="3520440"/>
            <a:ext cx="45720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35204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Hackathon registration was smooth</a:t>
            </a:r>
            <a:endParaRPr lang="en-US" sz="1400" dirty="0"/>
          </a:p>
        </p:txBody>
      </p:sp>
      <p:sp>
        <p:nvSpPr>
          <p:cNvPr id="21" name="Badge 3"/>
          <p:cNvSpPr/>
          <p:nvPr/>
        </p:nvSpPr>
        <p:spPr>
          <a:xfrm>
            <a:off x="4160520" y="363931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160520" y="3639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Positive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Sample / demo data</a:t>
            </a:r>
            <a:endParaRPr lang="en-US" sz="1000" dirty="0"/>
          </a:p>
        </p:txBody>
      </p:sp>
      <p:sp>
        <p:nvSpPr>
          <p:cNvPr id="24" name="Demo step 1 circle"/>
          <p:cNvSpPr/>
          <p:nvPr/>
        </p:nvSpPr>
        <p:spPr>
          <a:xfrm>
            <a:off x="5783580" y="13030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0" descr="Edit3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9310" y="1428750"/>
            <a:ext cx="251460" cy="25146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446520" y="1261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STEP 1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446520" y="1481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Submit anonymous feedback</a:t>
            </a:r>
            <a:endParaRPr lang="en-US" sz="1400" dirty="0"/>
          </a:p>
        </p:txBody>
      </p:sp>
      <p:sp>
        <p:nvSpPr>
          <p:cNvPr id="28" name="Demo step 2 circle"/>
          <p:cNvSpPr/>
          <p:nvPr/>
        </p:nvSpPr>
        <p:spPr>
          <a:xfrm>
            <a:off x="5783580" y="21442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1" descr="Cpu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10" y="2269998"/>
            <a:ext cx="251460" cy="2514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446520" y="2103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STEP 2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6446520" y="23225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Watch AI tag topic and mood</a:t>
            </a:r>
            <a:endParaRPr lang="en-US" sz="1400" dirty="0"/>
          </a:p>
        </p:txBody>
      </p:sp>
      <p:sp>
        <p:nvSpPr>
          <p:cNvPr id="32" name="Demo step 3 circle"/>
          <p:cNvSpPr/>
          <p:nvPr/>
        </p:nvSpPr>
        <p:spPr>
          <a:xfrm>
            <a:off x="5783580" y="2985516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3" name="Image 2" descr="BarChart2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310" y="3111246"/>
            <a:ext cx="251460" cy="25146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446520" y="2944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STEP 3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6446520" y="31638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Open the admin dashboard</a:t>
            </a:r>
            <a:endParaRPr lang="en-US" sz="1400" dirty="0"/>
          </a:p>
        </p:txBody>
      </p:sp>
      <p:sp>
        <p:nvSpPr>
          <p:cNvPr id="36" name="Demo step 4 circle"/>
          <p:cNvSpPr/>
          <p:nvPr/>
        </p:nvSpPr>
        <p:spPr>
          <a:xfrm>
            <a:off x="5783580" y="38267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7" name="Image 3" descr="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3952494"/>
            <a:ext cx="251460" cy="25146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446520" y="3785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STEP 4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6446520" y="4005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 priority and suggestions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Outcomes and Benefits</a:t>
            </a:r>
            <a:endParaRPr lang="en-US" sz="3200" dirty="0"/>
          </a:p>
        </p:txBody>
      </p:sp>
      <p:sp>
        <p:nvSpPr>
          <p:cNvPr id="3" name="Quote panel"/>
          <p:cNvSpPr/>
          <p:nvPr/>
        </p:nvSpPr>
        <p:spPr>
          <a:xfrm>
            <a:off x="457200" y="1188720"/>
            <a:ext cx="2834640" cy="32918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/>
        </p:spPr>
      </p:sp>
      <p:sp>
        <p:nvSpPr>
          <p:cNvPr id="4" name="Goal circle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Targ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231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Student Voice to Intelligent Action</a:t>
            </a:r>
            <a:endParaRPr lang="en-US" sz="2000" dirty="0"/>
          </a:p>
        </p:txBody>
      </p:sp>
      <p:sp>
        <p:nvSpPr>
          <p:cNvPr id="7" name="Outcome row 1"/>
          <p:cNvSpPr/>
          <p:nvPr/>
        </p:nvSpPr>
        <p:spPr>
          <a:xfrm>
            <a:off x="3566160" y="118872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8" name="Outcome 1 circle"/>
          <p:cNvSpPr/>
          <p:nvPr/>
        </p:nvSpPr>
        <p:spPr>
          <a:xfrm>
            <a:off x="3749040" y="1234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EyeOff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2588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1188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Anonymous feedback in one place</a:t>
            </a:r>
            <a:endParaRPr lang="en-US" sz="1400" dirty="0"/>
          </a:p>
        </p:txBody>
      </p:sp>
      <p:sp>
        <p:nvSpPr>
          <p:cNvPr id="11" name="Outcome row 2"/>
          <p:cNvSpPr/>
          <p:nvPr/>
        </p:nvSpPr>
        <p:spPr>
          <a:xfrm>
            <a:off x="3566160" y="173736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2" name="Outcome 2 circle"/>
          <p:cNvSpPr/>
          <p:nvPr/>
        </p:nvSpPr>
        <p:spPr>
          <a:xfrm>
            <a:off x="3749040" y="17830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Za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8745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9768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Faster analysis of large feedback</a:t>
            </a:r>
            <a:endParaRPr lang="en-US" sz="1400" dirty="0"/>
          </a:p>
        </p:txBody>
      </p:sp>
      <p:sp>
        <p:nvSpPr>
          <p:cNvPr id="15" name="Outcome row 3"/>
          <p:cNvSpPr/>
          <p:nvPr/>
        </p:nvSpPr>
        <p:spPr>
          <a:xfrm>
            <a:off x="3566160" y="228600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6" name="Outcome 3 circle"/>
          <p:cNvSpPr/>
          <p:nvPr/>
        </p:nvSpPr>
        <p:spPr>
          <a:xfrm>
            <a:off x="3749040" y="23317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3" descr="Ta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423160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29768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Automatic mood and topic detection</a:t>
            </a:r>
            <a:endParaRPr lang="en-US" sz="1400" dirty="0"/>
          </a:p>
        </p:txBody>
      </p:sp>
      <p:sp>
        <p:nvSpPr>
          <p:cNvPr id="19" name="Outcome row 4"/>
          <p:cNvSpPr/>
          <p:nvPr/>
        </p:nvSpPr>
        <p:spPr>
          <a:xfrm>
            <a:off x="3566160" y="283464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0" name="Outcome 4 circle"/>
          <p:cNvSpPr/>
          <p:nvPr/>
        </p:nvSpPr>
        <p:spPr>
          <a:xfrm>
            <a:off x="3749040" y="2880360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Image 4" descr="Activity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297180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97680" y="2834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Repeated issues spotted early</a:t>
            </a:r>
            <a:endParaRPr lang="en-US" sz="1400" dirty="0"/>
          </a:p>
        </p:txBody>
      </p:sp>
      <p:sp>
        <p:nvSpPr>
          <p:cNvPr id="23" name="Outcome row 5"/>
          <p:cNvSpPr/>
          <p:nvPr/>
        </p:nvSpPr>
        <p:spPr>
          <a:xfrm>
            <a:off x="3566160" y="338328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4" name="Outcome 5 circle"/>
          <p:cNvSpPr/>
          <p:nvPr/>
        </p:nvSpPr>
        <p:spPr>
          <a:xfrm>
            <a:off x="3749040" y="34290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Image 5" descr="BarChart2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520440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29768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 and trend insights</a:t>
            </a:r>
            <a:endParaRPr lang="en-US" sz="1400" dirty="0"/>
          </a:p>
        </p:txBody>
      </p:sp>
      <p:sp>
        <p:nvSpPr>
          <p:cNvPr id="27" name="Outcome row 6"/>
          <p:cNvSpPr/>
          <p:nvPr/>
        </p:nvSpPr>
        <p:spPr>
          <a:xfrm>
            <a:off x="3566160" y="393192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8" name="Outcome 6 circle"/>
          <p:cNvSpPr/>
          <p:nvPr/>
        </p:nvSpPr>
        <p:spPr>
          <a:xfrm>
            <a:off x="3749040" y="397764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9" name="Image 6" descr="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4069080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29768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Suggested actions with tracking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 &amp; Future Scope</a:t>
            </a:r>
            <a:endParaRPr lang="en-US" sz="3200" dirty="0"/>
          </a:p>
        </p:txBody>
      </p:sp>
      <p:sp>
        <p:nvSpPr>
          <p:cNvPr id="3" name="Conclusion 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Conclusion circle"/>
          <p:cNvSpPr/>
          <p:nvPr/>
        </p:nvSpPr>
        <p:spPr>
          <a:xfrm>
            <a:off x="617220" y="13487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4744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Turns raw feedback into clear insights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Built with React and Vite for a smooth web experience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and OS concepts work together to process feedback fast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9" name="Future row 1"/>
          <p:cNvSpPr/>
          <p:nvPr/>
        </p:nvSpPr>
        <p:spPr>
          <a:xfrm>
            <a:off x="4663440" y="1554480"/>
            <a:ext cx="40233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0" name="Future 1 circle"/>
          <p:cNvSpPr/>
          <p:nvPr/>
        </p:nvSpPr>
        <p:spPr>
          <a:xfrm>
            <a:off x="4818888" y="165506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Datab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760220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5544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 real college feedback data</a:t>
            </a:r>
            <a:endParaRPr lang="en-US" sz="1400" dirty="0"/>
          </a:p>
        </p:txBody>
      </p:sp>
      <p:sp>
        <p:nvSpPr>
          <p:cNvPr id="13" name="Future row 2"/>
          <p:cNvSpPr/>
          <p:nvPr/>
        </p:nvSpPr>
        <p:spPr>
          <a:xfrm>
            <a:off x="4663440" y="2286000"/>
            <a:ext cx="40233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4" name="Future 2 circle"/>
          <p:cNvSpPr/>
          <p:nvPr/>
        </p:nvSpPr>
        <p:spPr>
          <a:xfrm>
            <a:off x="4818888" y="2386584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Glob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044" y="2491740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94960" y="228600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Support Telugu and Hindi comments</a:t>
            </a:r>
            <a:endParaRPr lang="en-US" sz="1400" dirty="0"/>
          </a:p>
        </p:txBody>
      </p:sp>
      <p:sp>
        <p:nvSpPr>
          <p:cNvPr id="17" name="Future row 3"/>
          <p:cNvSpPr/>
          <p:nvPr/>
        </p:nvSpPr>
        <p:spPr>
          <a:xfrm>
            <a:off x="4663440" y="3017520"/>
            <a:ext cx="40233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8" name="Future 3 circle"/>
          <p:cNvSpPr/>
          <p:nvPr/>
        </p:nvSpPr>
        <p:spPr>
          <a:xfrm>
            <a:off x="4818888" y="311810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3" descr="Smartphon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44" y="3223260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394960" y="30175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Mobile-friendly QR event feedback</a:t>
            </a:r>
            <a:endParaRPr lang="en-US" sz="1400" dirty="0"/>
          </a:p>
        </p:txBody>
      </p:sp>
      <p:sp>
        <p:nvSpPr>
          <p:cNvPr id="21" name="Future row 4"/>
          <p:cNvSpPr/>
          <p:nvPr/>
        </p:nvSpPr>
        <p:spPr>
          <a:xfrm>
            <a:off x="4663440" y="3749040"/>
            <a:ext cx="40233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2" name="Future 4 circle"/>
          <p:cNvSpPr/>
          <p:nvPr/>
        </p:nvSpPr>
        <p:spPr>
          <a:xfrm>
            <a:off x="4818888" y="3849624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mage 4" descr="FileTex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044" y="3954780"/>
            <a:ext cx="210312" cy="2103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94960" y="37490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Department-wise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OSSP PROJECT  •  REVIEW 4  •  2026–27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ProcessMind: From Student Voice to Intelligent Action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Questions &amp; suggestions welcome</a:t>
            </a:r>
            <a:endParaRPr lang="en-US" sz="1600" dirty="0"/>
          </a:p>
        </p:txBody>
      </p:sp>
      <p:sp>
        <p:nvSpPr>
          <p:cNvPr id="6" name="Team card tint"/>
          <p:cNvSpPr/>
          <p:nvPr/>
        </p:nvSpPr>
        <p:spPr>
          <a:xfrm>
            <a:off x="5760720" y="640080"/>
            <a:ext cx="2926080" cy="3840480"/>
          </a:xfrm>
          <a:prstGeom prst="roundRect">
            <a:avLst>
              <a:gd name="adj" fmla="val 3750"/>
            </a:avLst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35040" y="868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TEAM G-15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Priyanka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5453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2520030540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901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Rishitha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671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2510030182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Vineeth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2510030240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145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Fardan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410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2510030263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Alpansh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4032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2510030356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cessMind Indigo">
  <a:themeElements>
    <a:clrScheme name="ProcessMind Indigo">
      <a:dk1>
        <a:srgbClr val="1B1840"/>
      </a:dk1>
      <a:lt1>
        <a:srgbClr val="FFFFFF"/>
      </a:lt1>
      <a:dk2>
        <a:srgbClr val="2E2A6B"/>
      </a:dk2>
      <a:lt2>
        <a:srgbClr val="F2F3FB"/>
      </a:lt2>
      <a:accent1>
        <a:srgbClr val="14B8A6"/>
      </a:accent1>
      <a:accent2>
        <a:srgbClr val="7C6CF0"/>
      </a:accent2>
      <a:accent3>
        <a:srgbClr val="F59E0B"/>
      </a:accent3>
      <a:accent4>
        <a:srgbClr val="38BDF8"/>
      </a:accent4>
      <a:accent5>
        <a:srgbClr val="22C55E"/>
      </a:accent5>
      <a:accent6>
        <a:srgbClr val="F43F5E"/>
      </a:accent6>
      <a:hlink>
        <a:srgbClr val="14B8A6"/>
      </a:hlink>
      <a:folHlink>
        <a:srgbClr val="7C6CF0"/>
      </a:folHlink>
    </a:clrScheme>
    <a:fontScheme name="ProcessMind Indig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KL University, Aziznagar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ProcessMind - OSSP Review 4</dc:title>
  <dc:subject>PptxGenJS Presentation</dc:subject>
  <dc:creator>Team G-15</dc:creator>
  <cp:lastModifiedBy>Team G-15</cp:lastModifiedBy>
  <cp:revision>1</cp:revision>
  <dcterms:created xsi:type="dcterms:W3CDTF">2026-10-10T11:59:03Z</dcterms:created>
  <dcterms:modified xsi:type="dcterms:W3CDTF">2026-10-10T11:59:03Z</dcterms:modified>
</cp:coreProperties>
</file>