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1.png"/><Relationship Id="rId9" Type="http://schemas.openxmlformats.org/officeDocument/2006/relationships/image" Target="../media/image-3-1.png"/><Relationship Id="rId10" Type="http://schemas.openxmlformats.org/officeDocument/2006/relationships/image" Target="../media/image-3-1.png"/><Relationship Id="rId11" Type="http://schemas.openxmlformats.org/officeDocument/2006/relationships/image" Target="../media/image-3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5-3.png"/><Relationship Id="rId9" Type="http://schemas.openxmlformats.org/officeDocument/2006/relationships/image" Target="../media/image-5-5.png"/><Relationship Id="rId10" Type="http://schemas.openxmlformats.org/officeDocument/2006/relationships/image" Target="../media/image-5-10.png"/><Relationship Id="rId11" Type="http://schemas.openxmlformats.org/officeDocument/2006/relationships/image" Target="../media/image-5-5.png"/><Relationship Id="rId12" Type="http://schemas.openxmlformats.org/officeDocument/2006/relationships/image" Target="../media/image-5-12.png"/><Relationship Id="rId13" Type="http://schemas.openxmlformats.org/officeDocument/2006/relationships/image" Target="../media/image-5-5.png"/><Relationship Id="rId14" Type="http://schemas.openxmlformats.org/officeDocument/2006/relationships/image" Target="../media/image-5-14.png"/><Relationship Id="rId15" Type="http://schemas.openxmlformats.org/officeDocument/2006/relationships/image" Target="../media/image-5-5.png"/><Relationship Id="rId16" Type="http://schemas.openxmlformats.org/officeDocument/2006/relationships/image" Target="../media/image-5-16.png"/><Relationship Id="rId17" Type="http://schemas.openxmlformats.org/officeDocument/2006/relationships/image" Target="../media/image-5-5.png"/><Relationship Id="rId18" Type="http://schemas.openxmlformats.org/officeDocument/2006/relationships/image" Target="../media/image-5-18.png"/><Relationship Id="rId19" Type="http://schemas.openxmlformats.org/officeDocument/2006/relationships/image" Target="../media/image-5-5.png"/><Relationship Id="rId20" Type="http://schemas.openxmlformats.org/officeDocument/2006/relationships/image" Target="../media/image-5-20.png"/><Relationship Id="rId21" Type="http://schemas.openxmlformats.org/officeDocument/2006/relationships/image" Target="../media/image-5-5.png"/><Relationship Id="rId22" Type="http://schemas.openxmlformats.org/officeDocument/2006/relationships/image" Target="../media/image-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4" name="Image 0" descr="/home/claude/ppt/icons/FiCpu_FFFFFF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914400"/>
            <a:ext cx="29260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858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685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PROJECT  •  2026–27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ProcessMind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Voice, Event Intelligence &amp;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Improvement Platform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520440"/>
            <a:ext cx="3657600" cy="0"/>
          </a:xfrm>
          <a:prstGeom prst="line">
            <a:avLst/>
          </a:prstGeom>
          <a:noFill/>
          <a:ln w="12700">
            <a:solidFill>
              <a:srgbClr val="2A32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703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University, Aziznagar
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57200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4736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51206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2520030540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127248" y="51206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Rishitha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2510030182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157216" y="51206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Vineeth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2510030240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187184" y="51206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Fardan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2510030263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217152" y="51206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Alpansh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2510030356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already collect student feedback through online forms, surveys, event feedback forms, and complaint systems — the real challenge lies in analyzing it at scale.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21408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9" name="Image 0" descr="/home/claude/ppt/icons/FiAlert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128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1579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269748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of feedback are difficult to analyze manually</a:t>
            </a:r>
            <a:endParaRPr lang="en-US" sz="1150" dirty="0"/>
          </a:p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distributed across different categories and events</a:t>
            </a:r>
            <a:endParaRPr lang="en-US" sz="1150" dirty="0"/>
          </a:p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issues may not be identified quickly</a:t>
            </a:r>
            <a:endParaRPr lang="en-US" sz="1150" dirty="0"/>
          </a:p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forms focus on collecting responses, not understanding them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92024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121408"/>
            <a:ext cx="420624" cy="420624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4" name="Image 1" descr="/home/claude/ppt/icons/FiCpu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128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21579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ProcessMind Layer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73952" y="269748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analysis of sentiment, topics, severity &amp; trends</a:t>
            </a:r>
            <a:endParaRPr lang="en-US" sz="1150" dirty="0"/>
          </a:p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OS-based task layer manages large-scale processing</a:t>
            </a:r>
            <a:endParaRPr lang="en-US" sz="1150" dirty="0"/>
          </a:p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Event-specific feedback analysis (workshops, hackathons)</a:t>
            </a:r>
            <a:endParaRPr lang="en-US" sz="1150" dirty="0"/>
          </a:p>
          <a:p>
            <a:pPr algn="l"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summaries, priorities &amp; recommendations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14400" y="5120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“ProcessMind transforms anonymous student feedback into intelligent, actionable insights for continuous college improvement.”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 |  OSSP Project  |  KL University, Aziznagar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LANDSCAPE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already uses online feedback mechanisms. ProcessMind is proposed as an additional intelligence layer on top of them.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feedback forms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108960" y="162763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6276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surveys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394960" y="162763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6276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feedback forms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680960" y="1627632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627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Course/faculty feedback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0080" y="2084832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84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systems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743200" y="208483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084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mechanisms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029200" y="2084832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084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Spreadsheet-based analysis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40080" y="2606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9718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297180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pic>
        <p:nvPicPr>
          <p:cNvPr id="24" name="Image 0" descr="/home/claude/ppt/icons/FiArrowRight_FFFFFF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02611" y="3191256"/>
            <a:ext cx="201168" cy="20116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2891790" y="29718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891790" y="297180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00" dirty="0"/>
          </a:p>
        </p:txBody>
      </p:sp>
      <p:pic>
        <p:nvPicPr>
          <p:cNvPr id="27" name="Image 1" descr="/home/claude/ppt/icons/FiArrowRight_FFFFFF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4854321" y="3191256"/>
            <a:ext cx="201168" cy="20116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143500" y="29718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5143500" y="297180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pic>
        <p:nvPicPr>
          <p:cNvPr id="30" name="Image 2" descr="/home/claude/ppt/icons/FiArrowRight_FFFFFF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106031" y="3191256"/>
            <a:ext cx="201168" cy="20116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395210" y="29718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7395210" y="297180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pic>
        <p:nvPicPr>
          <p:cNvPr id="33" name="Image 3" descr="/home/claude/ppt/icons/FiArrowRight_FFFFFF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357741" y="3191256"/>
            <a:ext cx="201168" cy="20116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9646920" y="29718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9646920" y="297180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40080" y="3886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Flow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640080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667512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pic>
        <p:nvPicPr>
          <p:cNvPr id="39" name="Image 4" descr="/home/claude/ppt/icons/FiArrowRight_FFFFFF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858845" y="4590288"/>
            <a:ext cx="182880" cy="18288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2016905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2044337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</p:txBody>
      </p:sp>
      <p:pic>
        <p:nvPicPr>
          <p:cNvPr id="42" name="Image 5" descr="/home/claude/ppt/icons/FiArrowRight_FFFFFF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3235670" y="4590288"/>
            <a:ext cx="182880" cy="18288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3393730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Text 36"/>
          <p:cNvSpPr/>
          <p:nvPr/>
        </p:nvSpPr>
        <p:spPr>
          <a:xfrm>
            <a:off x="3421162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OS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pic>
        <p:nvPicPr>
          <p:cNvPr id="45" name="Image 6" descr="/home/claude/ppt/icons/FiArrowRight_FFFFFF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4612495" y="4590288"/>
            <a:ext cx="182880" cy="182880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4770555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Text 38"/>
          <p:cNvSpPr/>
          <p:nvPr/>
        </p:nvSpPr>
        <p:spPr>
          <a:xfrm>
            <a:off x="4797987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pic>
        <p:nvPicPr>
          <p:cNvPr id="48" name="Image 7" descr="/home/claude/ppt/icons/FiArrowRight_FFFFFF.png">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5989320" y="4590288"/>
            <a:ext cx="182880" cy="182880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6147381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0" name="Text 40"/>
          <p:cNvSpPr/>
          <p:nvPr/>
        </p:nvSpPr>
        <p:spPr>
          <a:xfrm>
            <a:off x="6174813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pic>
        <p:nvPicPr>
          <p:cNvPr id="51" name="Image 8" descr="/home/claude/ppt/icons/FiArrowRight_FFFFFF.png">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7366145" y="4590288"/>
            <a:ext cx="182880" cy="182880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7524206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3" name="Text 42"/>
          <p:cNvSpPr/>
          <p:nvPr/>
        </p:nvSpPr>
        <p:spPr>
          <a:xfrm>
            <a:off x="7551638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pic>
        <p:nvPicPr>
          <p:cNvPr id="54" name="Image 9" descr="/home/claude/ppt/icons/FiArrowRight_FFFFFF.png">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8742970" y="4590288"/>
            <a:ext cx="182880" cy="182880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8901031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6" name="Text 44"/>
          <p:cNvSpPr/>
          <p:nvPr/>
        </p:nvSpPr>
        <p:spPr>
          <a:xfrm>
            <a:off x="8928463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pic>
        <p:nvPicPr>
          <p:cNvPr id="57" name="Image 10" descr="/home/claude/ppt/icons/FiArrowRight_FFFFFF.png">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10119795" y="4590288"/>
            <a:ext cx="182880" cy="182880"/>
          </a:xfrm>
          <a:prstGeom prst="rect">
            <a:avLst/>
          </a:prstGeom>
        </p:spPr>
      </p:pic>
      <p:sp>
        <p:nvSpPr>
          <p:cNvPr id="58" name="Shape 45"/>
          <p:cNvSpPr/>
          <p:nvPr/>
        </p:nvSpPr>
        <p:spPr>
          <a:xfrm>
            <a:off x="10277856" y="4251960"/>
            <a:ext cx="1243584" cy="868680"/>
          </a:xfrm>
          <a:prstGeom prst="roundRect">
            <a:avLst>
              <a:gd name="adj" fmla="val 10526"/>
            </a:avLst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9" name="Text 46"/>
          <p:cNvSpPr/>
          <p:nvPr/>
        </p:nvSpPr>
        <p:spPr>
          <a:xfrm>
            <a:off x="10305288" y="4251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60" name="Shape 47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1" name="Text 48"/>
          <p:cNvSpPr/>
          <p:nvPr/>
        </p:nvSpPr>
        <p:spPr>
          <a:xfrm>
            <a:off x="914400" y="53949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does not replace existing feedback collection — it adds an intelligent AI + OS-based analysis layer on top of it.</a:t>
            </a:r>
            <a:endParaRPr lang="en-US" sz="1200" dirty="0"/>
          </a:p>
        </p:txBody>
      </p:sp>
      <p:sp>
        <p:nvSpPr>
          <p:cNvPr id="62" name="Text 4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 |  OSSP Project  |  KL University, Aziznagar</a:t>
            </a:r>
            <a:endParaRPr lang="en-US" sz="900" dirty="0"/>
          </a:p>
        </p:txBody>
      </p:sp>
      <p:sp>
        <p:nvSpPr>
          <p:cNvPr id="63" name="Text 50"/>
          <p:cNvSpPr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 of Existing System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1496" y="1444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/home/claude/ppt/icons/Fi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936" y="153619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1892808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713232" y="2368296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manual effort required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474976" y="1325880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36392" y="1444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/home/claude/ppt/icons/FiGri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53619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9840" y="1892808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Feedback</a:t>
            </a:r>
            <a:endParaRPr lang="en-US" sz="930" dirty="0"/>
          </a:p>
        </p:txBody>
      </p:sp>
      <p:sp>
        <p:nvSpPr>
          <p:cNvPr id="15" name="Text 11"/>
          <p:cNvSpPr/>
          <p:nvPr/>
        </p:nvSpPr>
        <p:spPr>
          <a:xfrm>
            <a:off x="2548128" y="2368296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multiple forms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309872" y="1325880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71288" y="1444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/home/claude/ppt/icons/FiSlas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728" y="153619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64736" y="1892808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Free-Text Insight</a:t>
            </a:r>
            <a:endParaRPr lang="en-US" sz="930" dirty="0"/>
          </a:p>
        </p:txBody>
      </p:sp>
      <p:sp>
        <p:nvSpPr>
          <p:cNvPr id="20" name="Text 15"/>
          <p:cNvSpPr/>
          <p:nvPr/>
        </p:nvSpPr>
        <p:spPr>
          <a:xfrm>
            <a:off x="4383024" y="2368296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not intelligently parsed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6144768" y="1325880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6184" y="1444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3" name="Image 3" descr="/home/claude/ppt/icons/FiPie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624" y="153619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99632" y="1892808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Sentiment Analysis</a:t>
            </a:r>
            <a:endParaRPr lang="en-US" sz="930" dirty="0"/>
          </a:p>
        </p:txBody>
      </p:sp>
      <p:sp>
        <p:nvSpPr>
          <p:cNvPr id="25" name="Text 19"/>
          <p:cNvSpPr/>
          <p:nvPr/>
        </p:nvSpPr>
        <p:spPr>
          <a:xfrm>
            <a:off x="6217920" y="2368296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interpretation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7979664" y="1325880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41080" y="1444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8" name="Image 4" descr="/home/claude/ppt/icons/FiTarg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536192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34528" y="1892808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Prioritize</a:t>
            </a:r>
            <a:endParaRPr lang="en-US" sz="930" dirty="0"/>
          </a:p>
        </p:txBody>
      </p:sp>
      <p:sp>
        <p:nvSpPr>
          <p:cNvPr id="30" name="Text 23"/>
          <p:cNvSpPr/>
          <p:nvPr/>
        </p:nvSpPr>
        <p:spPr>
          <a:xfrm>
            <a:off x="8052816" y="2368296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urgency ranking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9814560" y="1325880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475976" y="1444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3" name="Image 5" descr="/home/claude/ppt/icons/FiRepea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416" y="1536192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869424" y="1892808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Issues Missed</a:t>
            </a:r>
            <a:endParaRPr lang="en-US" sz="930" dirty="0"/>
          </a:p>
        </p:txBody>
      </p:sp>
      <p:sp>
        <p:nvSpPr>
          <p:cNvPr id="35" name="Text 27"/>
          <p:cNvSpPr/>
          <p:nvPr/>
        </p:nvSpPr>
        <p:spPr>
          <a:xfrm>
            <a:off x="9887712" y="2368296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can go undetected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640080" y="2935224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301496" y="305409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8" name="Image 6" descr="/home/claude/ppt/icons/FiTrendingU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2936" y="3145536"/>
            <a:ext cx="201168" cy="20116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94944" y="3502152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Trend Analysis</a:t>
            </a:r>
            <a:endParaRPr lang="en-US" sz="930" dirty="0"/>
          </a:p>
        </p:txBody>
      </p:sp>
      <p:sp>
        <p:nvSpPr>
          <p:cNvPr id="40" name="Text 31"/>
          <p:cNvSpPr/>
          <p:nvPr/>
        </p:nvSpPr>
        <p:spPr>
          <a:xfrm>
            <a:off x="713232" y="3977640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satisfaction over time</a:t>
            </a:r>
            <a:endParaRPr lang="en-US" sz="750" dirty="0"/>
          </a:p>
        </p:txBody>
      </p:sp>
      <p:sp>
        <p:nvSpPr>
          <p:cNvPr id="41" name="Shape 32"/>
          <p:cNvSpPr/>
          <p:nvPr/>
        </p:nvSpPr>
        <p:spPr>
          <a:xfrm>
            <a:off x="2474976" y="2935224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136392" y="305409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3" name="Image 7" descr="/home/claude/ppt/icons/FiCalendar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7832" y="3145536"/>
            <a:ext cx="201168" cy="20116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529840" y="3502152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Event Feedback</a:t>
            </a:r>
            <a:endParaRPr lang="en-US" sz="930" dirty="0"/>
          </a:p>
        </p:txBody>
      </p:sp>
      <p:sp>
        <p:nvSpPr>
          <p:cNvPr id="45" name="Text 35"/>
          <p:cNvSpPr/>
          <p:nvPr/>
        </p:nvSpPr>
        <p:spPr>
          <a:xfrm>
            <a:off x="2548128" y="3977640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not linked to overall data</a:t>
            </a:r>
            <a:endParaRPr lang="en-US" sz="750" dirty="0"/>
          </a:p>
        </p:txBody>
      </p:sp>
      <p:sp>
        <p:nvSpPr>
          <p:cNvPr id="46" name="Shape 36"/>
          <p:cNvSpPr/>
          <p:nvPr/>
        </p:nvSpPr>
        <p:spPr>
          <a:xfrm>
            <a:off x="4309872" y="2935224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4971288" y="305409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8" name="Image 8" descr="/home/claude/ppt/icons/FiZap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2728" y="3145536"/>
            <a:ext cx="201168" cy="20116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364736" y="3502152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Recommendations</a:t>
            </a:r>
            <a:endParaRPr lang="en-US" sz="930" dirty="0"/>
          </a:p>
        </p:txBody>
      </p:sp>
      <p:sp>
        <p:nvSpPr>
          <p:cNvPr id="50" name="Text 39"/>
          <p:cNvSpPr/>
          <p:nvPr/>
        </p:nvSpPr>
        <p:spPr>
          <a:xfrm>
            <a:off x="4383024" y="3977640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suggested actions</a:t>
            </a:r>
            <a:endParaRPr lang="en-US" sz="750" dirty="0"/>
          </a:p>
        </p:txBody>
      </p:sp>
      <p:sp>
        <p:nvSpPr>
          <p:cNvPr id="51" name="Shape 40"/>
          <p:cNvSpPr/>
          <p:nvPr/>
        </p:nvSpPr>
        <p:spPr>
          <a:xfrm>
            <a:off x="6144768" y="2935224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6806184" y="305409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3" name="Image 9" descr="/home/claude/ppt/icons/FiLayers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7624" y="3145536"/>
            <a:ext cx="201168" cy="20116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199632" y="3502152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Scalability</a:t>
            </a:r>
            <a:endParaRPr lang="en-US" sz="930" dirty="0"/>
          </a:p>
        </p:txBody>
      </p:sp>
      <p:sp>
        <p:nvSpPr>
          <p:cNvPr id="55" name="Text 43"/>
          <p:cNvSpPr/>
          <p:nvPr/>
        </p:nvSpPr>
        <p:spPr>
          <a:xfrm>
            <a:off x="6217920" y="3977640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strain manual review</a:t>
            </a:r>
            <a:endParaRPr lang="en-US" sz="750" dirty="0"/>
          </a:p>
        </p:txBody>
      </p:sp>
      <p:sp>
        <p:nvSpPr>
          <p:cNvPr id="56" name="Shape 44"/>
          <p:cNvSpPr/>
          <p:nvPr/>
        </p:nvSpPr>
        <p:spPr>
          <a:xfrm>
            <a:off x="7979664" y="2935224"/>
            <a:ext cx="1706880" cy="1481328"/>
          </a:xfrm>
          <a:prstGeom prst="roundRect">
            <a:avLst>
              <a:gd name="adj" fmla="val 6173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Shape 45"/>
          <p:cNvSpPr/>
          <p:nvPr/>
        </p:nvSpPr>
        <p:spPr>
          <a:xfrm>
            <a:off x="8641080" y="305409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8" name="Image 10" descr="/home/claude/ppt/icons/FiSliders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2520" y="3145536"/>
            <a:ext cx="201168" cy="20116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8034528" y="3502152"/>
            <a:ext cx="15971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OS-Level Task Layer</a:t>
            </a:r>
            <a:endParaRPr lang="en-US" sz="930" dirty="0"/>
          </a:p>
        </p:txBody>
      </p:sp>
      <p:sp>
        <p:nvSpPr>
          <p:cNvPr id="60" name="Text 47"/>
          <p:cNvSpPr/>
          <p:nvPr/>
        </p:nvSpPr>
        <p:spPr>
          <a:xfrm>
            <a:off x="8052816" y="3977640"/>
            <a:ext cx="1560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priority-based processing layer</a:t>
            </a:r>
            <a:endParaRPr lang="en-US" sz="750" dirty="0"/>
          </a:p>
        </p:txBody>
      </p:sp>
      <p:sp>
        <p:nvSpPr>
          <p:cNvPr id="61" name="Shape 48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2" name="Text 49"/>
          <p:cNvSpPr/>
          <p:nvPr/>
        </p:nvSpPr>
        <p:spPr>
          <a:xfrm>
            <a:off x="914400" y="50749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primarily focus on collecting feedback, while ProcessMind focuses on intelligent analysis, efficient processing, prioritization, and actionable insights.</a:t>
            </a:r>
            <a:endParaRPr lang="en-US" sz="1350" dirty="0"/>
          </a:p>
        </p:txBody>
      </p:sp>
      <p:sp>
        <p:nvSpPr>
          <p:cNvPr id="63" name="Text 5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 |  OSSP Project  |  KL University, Aziznagar</a:t>
            </a:r>
            <a:endParaRPr lang="en-US" sz="900" dirty="0"/>
          </a:p>
        </p:txBody>
      </p:sp>
      <p:sp>
        <p:nvSpPr>
          <p:cNvPr id="64" name="Text 51"/>
          <p:cNvSpPr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1089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ProcessMind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3327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OS-aware platform combining  AI/ML  +  Operating Systems  +  DBMS  +  Web Development  for anonymous feedback intelligence.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64592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9" name="Image 0" descr="/home/claude/ppt/icons/Fi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282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627632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Student Platform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31363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&amp; faculty feedback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workshops, hackathons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&amp; campus facilities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Canteen, transport, placements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anonymous event feedback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25112" y="1481328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9704" y="16459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1" descr="/home/claude/ppt/icons/FiCpu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2821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46904" y="1627632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ProcessMind AI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4507992" y="2103120"/>
            <a:ext cx="31363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topic classification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keyword extraction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 &amp; severity analysis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&amp; trend analysis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insights &amp; recommendations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10144" y="1481328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1645920"/>
            <a:ext cx="365760" cy="365760"/>
          </a:xfrm>
          <a:prstGeom prst="ellipse">
            <a:avLst/>
          </a:prstGeom>
          <a:solidFill>
            <a:srgbClr val="5B7CFA"/>
          </a:solidFill>
          <a:ln/>
        </p:spPr>
      </p:sp>
      <p:pic>
        <p:nvPicPr>
          <p:cNvPr id="19" name="Image 2" descr="/home/claude/ppt/icons/FiSlid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72821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31936" y="1627632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OS Task Manager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8193024" y="2103120"/>
            <a:ext cx="31363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scheduling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queues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&amp; concurrency</a:t>
            </a:r>
            <a:endParaRPr lang="en-US" sz="900" dirty="0"/>
          </a:p>
          <a:p>
            <a:pPr algn="l" marL="139700" indent="-139700">
              <a:lnSpc>
                <a:spcPct val="102000"/>
              </a:lnSpc>
              <a:spcAft>
                <a:spcPts val="550"/>
              </a:spcAft>
              <a:buSzPct val="100000"/>
              <a:buChar char="▪"/>
            </a:pPr>
            <a:r>
              <a:rPr lang="en-US" sz="9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&amp; resource mgmt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OS-Based Processing Pipeline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0080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50976" y="4069080"/>
            <a:ext cx="347472" cy="347472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25" name="Image 3" descr="/home/claude/ppt/icons/FiEyeOff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146804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30" dirty="0"/>
          </a:p>
        </p:txBody>
      </p:sp>
      <p:pic>
        <p:nvPicPr>
          <p:cNvPr id="27" name="Image 4" descr="/home/claude/ppt/icons/FiArrowRight_FFFFFF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593088" y="4462272"/>
            <a:ext cx="164592" cy="16459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741424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2052320" y="406908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0" name="Image 5" descr="/home/claude/ppt/icons/FiLis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004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759712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730" dirty="0"/>
          </a:p>
        </p:txBody>
      </p:sp>
      <p:pic>
        <p:nvPicPr>
          <p:cNvPr id="32" name="Image 6" descr="/home/claude/ppt/icons/FiArrowRight_FFFFFF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2694432" y="4462272"/>
            <a:ext cx="164592" cy="16459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2842768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3153664" y="4069080"/>
            <a:ext cx="347472" cy="347472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35" name="Image 7" descr="/home/claude/ppt/icons/FiSlider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1388" y="4146804"/>
            <a:ext cx="192024" cy="19202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861056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730" dirty="0"/>
          </a:p>
        </p:txBody>
      </p:sp>
      <p:pic>
        <p:nvPicPr>
          <p:cNvPr id="37" name="Image 8" descr="/home/claude/ppt/icons/FiArrowRight_FFFFFF.png">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3795776" y="4462272"/>
            <a:ext cx="164592" cy="164592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3944112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4255008" y="406908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0" name="Image 9" descr="/home/claude/ppt/icons/FiShuffle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2732" y="4146804"/>
            <a:ext cx="192024" cy="19202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3962400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30" dirty="0"/>
          </a:p>
        </p:txBody>
      </p:sp>
      <p:pic>
        <p:nvPicPr>
          <p:cNvPr id="42" name="Image 10" descr="/home/claude/ppt/icons/FiArrowRight_FFFFFF.png">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4897120" y="4462272"/>
            <a:ext cx="164592" cy="164592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5045456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31"/>
          <p:cNvSpPr/>
          <p:nvPr/>
        </p:nvSpPr>
        <p:spPr>
          <a:xfrm>
            <a:off x="5356352" y="4069080"/>
            <a:ext cx="347472" cy="347472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45" name="Image 11" descr="/home/claude/ppt/icons/FiActivity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4076" y="4146804"/>
            <a:ext cx="192024" cy="19202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063744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730" dirty="0"/>
          </a:p>
        </p:txBody>
      </p:sp>
      <p:pic>
        <p:nvPicPr>
          <p:cNvPr id="47" name="Image 12" descr="/home/claude/ppt/icons/FiArrowRight_FFFFFF.png">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5998464" y="4462272"/>
            <a:ext cx="164592" cy="164592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6146800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34"/>
          <p:cNvSpPr/>
          <p:nvPr/>
        </p:nvSpPr>
        <p:spPr>
          <a:xfrm>
            <a:off x="6457696" y="406908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0" name="Image 13" descr="/home/claude/ppt/icons/FiTarget_FFFFF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5420" y="4146804"/>
            <a:ext cx="192024" cy="192024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165088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730" dirty="0"/>
          </a:p>
        </p:txBody>
      </p:sp>
      <p:pic>
        <p:nvPicPr>
          <p:cNvPr id="52" name="Image 14" descr="/home/claude/ppt/icons/FiArrowRight_FFFFFF.png">    </p:cNvPr>
          <p:cNvPicPr>
            <a:picLocks noChangeAspect="1"/>
          </p:cNvPicPr>
          <p:nvPr/>
        </p:nvPicPr>
        <p:blipFill>
          <a:blip r:embed="rId15">
            <a:alphaModFix amt="85000"/>
          </a:blip>
          <a:stretch>
            <a:fillRect/>
          </a:stretch>
        </p:blipFill>
        <p:spPr>
          <a:xfrm>
            <a:off x="7099808" y="4462272"/>
            <a:ext cx="164592" cy="164592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7248144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Shape 37"/>
          <p:cNvSpPr/>
          <p:nvPr/>
        </p:nvSpPr>
        <p:spPr>
          <a:xfrm>
            <a:off x="7559040" y="4069080"/>
            <a:ext cx="347472" cy="347472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55" name="Image 15" descr="/home/claude/ppt/icons/FiZap_FFFFFF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6764" y="4146804"/>
            <a:ext cx="192024" cy="192024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7266432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Recommend-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ations</a:t>
            </a:r>
            <a:endParaRPr lang="en-US" sz="730" dirty="0"/>
          </a:p>
        </p:txBody>
      </p:sp>
      <p:pic>
        <p:nvPicPr>
          <p:cNvPr id="57" name="Image 16" descr="/home/claude/ppt/icons/FiArrowRight_FFFFFF.png">    </p:cNvPr>
          <p:cNvPicPr>
            <a:picLocks noChangeAspect="1"/>
          </p:cNvPicPr>
          <p:nvPr/>
        </p:nvPicPr>
        <p:blipFill>
          <a:blip r:embed="rId17">
            <a:alphaModFix amt="85000"/>
          </a:blip>
          <a:stretch>
            <a:fillRect/>
          </a:stretch>
        </p:blipFill>
        <p:spPr>
          <a:xfrm>
            <a:off x="8201152" y="4462272"/>
            <a:ext cx="164592" cy="164592"/>
          </a:xfrm>
          <a:prstGeom prst="rect">
            <a:avLst/>
          </a:prstGeom>
        </p:spPr>
      </p:pic>
      <p:sp>
        <p:nvSpPr>
          <p:cNvPr id="58" name="Shape 39"/>
          <p:cNvSpPr/>
          <p:nvPr/>
        </p:nvSpPr>
        <p:spPr>
          <a:xfrm>
            <a:off x="8349488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9" name="Shape 40"/>
          <p:cNvSpPr/>
          <p:nvPr/>
        </p:nvSpPr>
        <p:spPr>
          <a:xfrm>
            <a:off x="8660384" y="406908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0" name="Image 17" descr="/home/claude/ppt/icons/FiMonitor_FFFFFF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38108" y="4146804"/>
            <a:ext cx="192024" cy="192024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8367776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30" dirty="0"/>
          </a:p>
        </p:txBody>
      </p:sp>
      <p:pic>
        <p:nvPicPr>
          <p:cNvPr id="62" name="Image 18" descr="/home/claude/ppt/icons/FiArrowRight_FFFFFF.png">    </p:cNvPr>
          <p:cNvPicPr>
            <a:picLocks noChangeAspect="1"/>
          </p:cNvPicPr>
          <p:nvPr/>
        </p:nvPicPr>
        <p:blipFill>
          <a:blip r:embed="rId19">
            <a:alphaModFix amt="85000"/>
          </a:blip>
          <a:stretch>
            <a:fillRect/>
          </a:stretch>
        </p:blipFill>
        <p:spPr>
          <a:xfrm>
            <a:off x="9302496" y="4462272"/>
            <a:ext cx="164592" cy="164592"/>
          </a:xfrm>
          <a:prstGeom prst="rect">
            <a:avLst/>
          </a:prstGeom>
        </p:spPr>
      </p:pic>
      <p:sp>
        <p:nvSpPr>
          <p:cNvPr id="63" name="Shape 42"/>
          <p:cNvSpPr/>
          <p:nvPr/>
        </p:nvSpPr>
        <p:spPr>
          <a:xfrm>
            <a:off x="9450832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4" name="Shape 43"/>
          <p:cNvSpPr/>
          <p:nvPr/>
        </p:nvSpPr>
        <p:spPr>
          <a:xfrm>
            <a:off x="9761728" y="4069080"/>
            <a:ext cx="347472" cy="347472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65" name="Image 19" descr="/home/claude/ppt/icons/FiCheckSquare_FFFFFF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39452" y="4146804"/>
            <a:ext cx="192024" cy="192024"/>
          </a:xfrm>
          <a:prstGeom prst="rect">
            <a:avLst/>
          </a:prstGeom>
        </p:spPr>
      </p:pic>
      <p:sp>
        <p:nvSpPr>
          <p:cNvPr id="66" name="Text 44"/>
          <p:cNvSpPr/>
          <p:nvPr/>
        </p:nvSpPr>
        <p:spPr>
          <a:xfrm>
            <a:off x="9469120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730" dirty="0"/>
          </a:p>
        </p:txBody>
      </p:sp>
      <p:pic>
        <p:nvPicPr>
          <p:cNvPr id="67" name="Image 20" descr="/home/claude/ppt/icons/FiArrowRight_FFFFFF.png">    </p:cNvPr>
          <p:cNvPicPr>
            <a:picLocks noChangeAspect="1"/>
          </p:cNvPicPr>
          <p:nvPr/>
        </p:nvPicPr>
        <p:blipFill>
          <a:blip r:embed="rId21">
            <a:alphaModFix amt="85000"/>
          </a:blip>
          <a:stretch>
            <a:fillRect/>
          </a:stretch>
        </p:blipFill>
        <p:spPr>
          <a:xfrm>
            <a:off x="10403840" y="4462272"/>
            <a:ext cx="164592" cy="164592"/>
          </a:xfrm>
          <a:prstGeom prst="rect">
            <a:avLst/>
          </a:prstGeom>
        </p:spPr>
      </p:pic>
      <p:sp>
        <p:nvSpPr>
          <p:cNvPr id="68" name="Shape 45"/>
          <p:cNvSpPr/>
          <p:nvPr/>
        </p:nvSpPr>
        <p:spPr>
          <a:xfrm>
            <a:off x="10552176" y="3950208"/>
            <a:ext cx="969264" cy="1371600"/>
          </a:xfrm>
          <a:prstGeom prst="roundRect">
            <a:avLst>
              <a:gd name="adj" fmla="val 9434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9" name="Shape 46"/>
          <p:cNvSpPr/>
          <p:nvPr/>
        </p:nvSpPr>
        <p:spPr>
          <a:xfrm>
            <a:off x="10863072" y="406908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0" name="Image 21" descr="/home/claude/ppt/icons/FiTrendingUp_FFFFFF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40796" y="4146804"/>
            <a:ext cx="192024" cy="192024"/>
          </a:xfrm>
          <a:prstGeom prst="rect">
            <a:avLst/>
          </a:prstGeom>
        </p:spPr>
      </p:pic>
      <p:sp>
        <p:nvSpPr>
          <p:cNvPr id="71" name="Text 47"/>
          <p:cNvSpPr/>
          <p:nvPr/>
        </p:nvSpPr>
        <p:spPr>
          <a:xfrm>
            <a:off x="10570464" y="4498848"/>
            <a:ext cx="932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Improve-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</a:t>
            </a:r>
            <a:endParaRPr lang="en-US" sz="730" dirty="0"/>
          </a:p>
        </p:txBody>
      </p:sp>
      <p:sp>
        <p:nvSpPr>
          <p:cNvPr id="72" name="Text 48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topic, and severity tasks run concurrently as OS-managed processes — ProcessMind AI acts as a decision-support system, not an automatic decision-maker.</a:t>
            </a:r>
            <a:endParaRPr lang="en-US" sz="980" dirty="0"/>
          </a:p>
        </p:txBody>
      </p:sp>
      <p:sp>
        <p:nvSpPr>
          <p:cNvPr id="73" name="Text 4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 |  OSSP Project  |  KL University, Aziznagar</a:t>
            </a:r>
            <a:endParaRPr lang="en-US" sz="900" dirty="0"/>
          </a:p>
        </p:txBody>
      </p:sp>
      <p:sp>
        <p:nvSpPr>
          <p:cNvPr id="74" name="Text 50"/>
          <p:cNvSpPr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8" name="Image 0" descr="/home/claude/ppt/icons/FiHardDriv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4650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12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/ Desktop</a:t>
            </a:r>
            <a:endParaRPr lang="en-US" sz="1120" dirty="0"/>
          </a:p>
          <a:p>
            <a:pPr algn="l"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12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 GB RAM</a:t>
            </a:r>
            <a:endParaRPr lang="en-US" sz="1120" dirty="0"/>
          </a:p>
          <a:p>
            <a:pPr algn="l"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12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16 GB RAM</a:t>
            </a:r>
            <a:endParaRPr lang="en-US" sz="1120" dirty="0"/>
          </a:p>
          <a:p>
            <a:pPr algn="l"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12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 / AMD Ryzen 5+</a:t>
            </a:r>
            <a:endParaRPr lang="en-US" sz="1120" dirty="0"/>
          </a:p>
          <a:p>
            <a:pPr algn="l"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12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256 GB storage</a:t>
            </a:r>
            <a:endParaRPr lang="en-US" sz="1120" dirty="0"/>
          </a:p>
          <a:p>
            <a:pPr algn="l"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12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internet connection</a:t>
            </a:r>
            <a:endParaRPr lang="en-US" sz="1120" dirty="0"/>
          </a:p>
          <a:p>
            <a:pPr algn="l"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12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server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452628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80560" y="181051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89280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1" descr="/home/claude/ppt/icons/FiMonito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1970532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02352" y="18516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102352" y="207568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Vite · HTML5 · CSS3/Tailwind · JavaScript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4480560" y="240487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248716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/home/claude/ppt/icons/Fi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44" y="2564892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02352" y="24460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102352" y="267004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4480560" y="299923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17720" y="308152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3" descr="/home/claude/ppt/icons/Fi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444" y="315925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02352" y="30403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102352" y="326440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60" dirty="0"/>
          </a:p>
        </p:txBody>
      </p:sp>
      <p:sp>
        <p:nvSpPr>
          <p:cNvPr id="27" name="Shape 21"/>
          <p:cNvSpPr/>
          <p:nvPr/>
        </p:nvSpPr>
        <p:spPr>
          <a:xfrm>
            <a:off x="4480560" y="359359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17720" y="367588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9" name="Image 4" descr="/home/claude/ppt/icons/FiCpu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444" y="3753612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02352" y="36347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102352" y="385876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Scikit-learn · NLP</a:t>
            </a:r>
            <a:endParaRPr lang="en-US" sz="860" dirty="0"/>
          </a:p>
        </p:txBody>
      </p:sp>
      <p:sp>
        <p:nvSpPr>
          <p:cNvPr id="32" name="Shape 25"/>
          <p:cNvSpPr/>
          <p:nvPr/>
        </p:nvSpPr>
        <p:spPr>
          <a:xfrm>
            <a:off x="4480560" y="418795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17720" y="427024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5" descr="/home/claude/ppt/icons/FiSlid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444" y="4347972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02352" y="42291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System Processing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102352" y="445312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 · Threading/Async · Task Queues · Priority Scheduling · Synchronization</a:t>
            </a:r>
            <a:endParaRPr lang="en-US" sz="860" dirty="0"/>
          </a:p>
        </p:txBody>
      </p:sp>
      <p:sp>
        <p:nvSpPr>
          <p:cNvPr id="37" name="Shape 29"/>
          <p:cNvSpPr/>
          <p:nvPr/>
        </p:nvSpPr>
        <p:spPr>
          <a:xfrm>
            <a:off x="4480560" y="478231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617720" y="486460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9" name="Image 6" descr="/home/claude/ppt/icons/FiBarChart2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444" y="4942332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02352" y="48234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5102352" y="504748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/ Chart.js · React Flow</a:t>
            </a:r>
            <a:endParaRPr lang="en-US" sz="860" dirty="0"/>
          </a:p>
        </p:txBody>
      </p:sp>
      <p:sp>
        <p:nvSpPr>
          <p:cNvPr id="42" name="Shape 33"/>
          <p:cNvSpPr/>
          <p:nvPr/>
        </p:nvSpPr>
        <p:spPr>
          <a:xfrm>
            <a:off x="4480560" y="537667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617720" y="545896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4" name="Image 7" descr="/home/claude/ppt/icons/FiCod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444" y="5536692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102352" y="54178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5102352" y="564184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Git · GitHub · Postman</a:t>
            </a:r>
            <a:endParaRPr lang="en-US" sz="860" dirty="0"/>
          </a:p>
        </p:txBody>
      </p:sp>
      <p:sp>
        <p:nvSpPr>
          <p:cNvPr id="47" name="Shape 37"/>
          <p:cNvSpPr/>
          <p:nvPr/>
        </p:nvSpPr>
        <p:spPr>
          <a:xfrm>
            <a:off x="4480560" y="5971032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4617720" y="6053328"/>
            <a:ext cx="338328" cy="3383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9" name="Image 8" descr="/home/claude/ppt/icons/FiCloud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444" y="6131052"/>
            <a:ext cx="182880" cy="18288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102352" y="60121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51" name="Text 40"/>
          <p:cNvSpPr/>
          <p:nvPr/>
        </p:nvSpPr>
        <p:spPr>
          <a:xfrm>
            <a:off x="5102352" y="623620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Netlify · Render / Railway · Cloud PostgreSQL</a:t>
            </a:r>
            <a:endParaRPr lang="en-US" sz="860" dirty="0"/>
          </a:p>
        </p:txBody>
      </p:sp>
      <p:sp>
        <p:nvSpPr>
          <p:cNvPr id="52" name="Text 4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 |  OSSP Project  |  KL University, Aziznagar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1089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760" dirty="0"/>
          </a:p>
        </p:txBody>
      </p:sp>
      <p:pic>
        <p:nvPicPr>
          <p:cNvPr id="8" name="Image 0" descr="/home/claude/ppt/icons/FiArrowRight_FFFFFF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593088" y="1444752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41424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759712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60" dirty="0"/>
          </a:p>
        </p:txBody>
      </p:sp>
      <p:pic>
        <p:nvPicPr>
          <p:cNvPr id="11" name="Image 1" descr="/home/claude/ppt/icons/FiArrowRight_FFFFFF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94432" y="1444752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42768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861056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Task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760" dirty="0"/>
          </a:p>
        </p:txBody>
      </p:sp>
      <p:pic>
        <p:nvPicPr>
          <p:cNvPr id="14" name="Image 2" descr="/home/claude/ppt/icons/FiArrowRight_FFFFFF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3795776" y="1444752"/>
            <a:ext cx="164592" cy="1645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944112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962400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60" dirty="0"/>
          </a:p>
        </p:txBody>
      </p:sp>
      <p:pic>
        <p:nvPicPr>
          <p:cNvPr id="17" name="Image 3" descr="/home/claude/ppt/icons/FiArrowRight_FFFFFF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4897120" y="1444752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45456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063744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60" dirty="0"/>
          </a:p>
        </p:txBody>
      </p:sp>
      <p:pic>
        <p:nvPicPr>
          <p:cNvPr id="20" name="Image 4" descr="/home/claude/ppt/icons/FiArrowRight_FFFFFF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998464" y="1444752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46800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165088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60" dirty="0"/>
          </a:p>
        </p:txBody>
      </p:sp>
      <p:pic>
        <p:nvPicPr>
          <p:cNvPr id="23" name="Image 5" descr="/home/claude/ppt/icons/FiArrowRight_FFFFFF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7099808" y="1444752"/>
            <a:ext cx="164592" cy="16459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248144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7266432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Recommend.</a:t>
            </a:r>
            <a:endParaRPr lang="en-US" sz="760" dirty="0"/>
          </a:p>
        </p:txBody>
      </p:sp>
      <p:pic>
        <p:nvPicPr>
          <p:cNvPr id="26" name="Image 6" descr="/home/claude/ppt/icons/FiArrowRight_FFFFFF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8201152" y="1444752"/>
            <a:ext cx="164592" cy="164592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8349488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19"/>
          <p:cNvSpPr/>
          <p:nvPr/>
        </p:nvSpPr>
        <p:spPr>
          <a:xfrm>
            <a:off x="8367776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60" dirty="0"/>
          </a:p>
        </p:txBody>
      </p:sp>
      <p:pic>
        <p:nvPicPr>
          <p:cNvPr id="29" name="Image 7" descr="/home/claude/ppt/icons/FiArrowRight_FFFFFF.png">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9302496" y="1444752"/>
            <a:ext cx="164592" cy="164592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450832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9469120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760" dirty="0"/>
          </a:p>
        </p:txBody>
      </p:sp>
      <p:pic>
        <p:nvPicPr>
          <p:cNvPr id="32" name="Image 8" descr="/home/claude/ppt/icons/FiArrowRight_FFFFFF.png">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0403840" y="1444752"/>
            <a:ext cx="164592" cy="164592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0552176" y="1097280"/>
            <a:ext cx="969264" cy="868680"/>
          </a:xfrm>
          <a:prstGeom prst="roundRect">
            <a:avLst>
              <a:gd name="adj" fmla="val 10526"/>
            </a:avLst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10570464" y="1097280"/>
            <a:ext cx="932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60" dirty="0"/>
          </a:p>
        </p:txBody>
      </p:sp>
      <p:sp>
        <p:nvSpPr>
          <p:cNvPr id="35" name="Text 24"/>
          <p:cNvSpPr/>
          <p:nvPr/>
        </p:nvSpPr>
        <p:spPr>
          <a:xfrm>
            <a:off x="640080" y="2212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640080" y="2542032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749808" y="2720340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8" name="Image 9" descr="/home/claude/ppt/icons/FiEyeOff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" y="2788920"/>
            <a:ext cx="164592" cy="16459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133856" y="2542032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anonymous feedback</a:t>
            </a:r>
            <a:endParaRPr lang="en-US" sz="920" dirty="0"/>
          </a:p>
        </p:txBody>
      </p:sp>
      <p:sp>
        <p:nvSpPr>
          <p:cNvPr id="40" name="Shape 28"/>
          <p:cNvSpPr/>
          <p:nvPr/>
        </p:nvSpPr>
        <p:spPr>
          <a:xfrm>
            <a:off x="3392424" y="2542032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3502152" y="2720340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2" name="Image 10" descr="/home/claude/ppt/icons/FiZap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0732" y="2788920"/>
            <a:ext cx="164592" cy="16459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3886200" y="2542032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large-scale analysis</a:t>
            </a:r>
            <a:endParaRPr lang="en-US" sz="920" dirty="0"/>
          </a:p>
        </p:txBody>
      </p:sp>
      <p:sp>
        <p:nvSpPr>
          <p:cNvPr id="44" name="Shape 31"/>
          <p:cNvSpPr/>
          <p:nvPr/>
        </p:nvSpPr>
        <p:spPr>
          <a:xfrm>
            <a:off x="6144768" y="2542032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32"/>
          <p:cNvSpPr/>
          <p:nvPr/>
        </p:nvSpPr>
        <p:spPr>
          <a:xfrm>
            <a:off x="6254496" y="2720340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6" name="Image 11" descr="/home/claude/ppt/icons/FiActivity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3076" y="2788920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638544" y="2542032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sentiment &amp; topic detection</a:t>
            </a:r>
            <a:endParaRPr lang="en-US" sz="920" dirty="0"/>
          </a:p>
        </p:txBody>
      </p:sp>
      <p:sp>
        <p:nvSpPr>
          <p:cNvPr id="48" name="Shape 34"/>
          <p:cNvSpPr/>
          <p:nvPr/>
        </p:nvSpPr>
        <p:spPr>
          <a:xfrm>
            <a:off x="8897112" y="2542032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35"/>
          <p:cNvSpPr/>
          <p:nvPr/>
        </p:nvSpPr>
        <p:spPr>
          <a:xfrm>
            <a:off x="9006840" y="2720340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0" name="Image 12" descr="/home/claude/ppt/icons/FiRepeat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5420" y="2788920"/>
            <a:ext cx="164592" cy="164592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9390888" y="2542032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 &amp; severity detection</a:t>
            </a:r>
            <a:endParaRPr lang="en-US" sz="920" dirty="0"/>
          </a:p>
        </p:txBody>
      </p:sp>
      <p:sp>
        <p:nvSpPr>
          <p:cNvPr id="52" name="Shape 37"/>
          <p:cNvSpPr/>
          <p:nvPr/>
        </p:nvSpPr>
        <p:spPr>
          <a:xfrm>
            <a:off x="640080" y="3328416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3" name="Shape 38"/>
          <p:cNvSpPr/>
          <p:nvPr/>
        </p:nvSpPr>
        <p:spPr>
          <a:xfrm>
            <a:off x="749808" y="3506724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4" name="Image 13" descr="/home/claude/ppt/icons/FiCalendar_FFFFF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388" y="3575304"/>
            <a:ext cx="164592" cy="164592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1133856" y="3328416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performance analysis</a:t>
            </a:r>
            <a:endParaRPr lang="en-US" sz="920" dirty="0"/>
          </a:p>
        </p:txBody>
      </p:sp>
      <p:sp>
        <p:nvSpPr>
          <p:cNvPr id="56" name="Shape 40"/>
          <p:cNvSpPr/>
          <p:nvPr/>
        </p:nvSpPr>
        <p:spPr>
          <a:xfrm>
            <a:off x="3392424" y="3328416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Shape 41"/>
          <p:cNvSpPr/>
          <p:nvPr/>
        </p:nvSpPr>
        <p:spPr>
          <a:xfrm>
            <a:off x="3502152" y="3506724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8" name="Image 14" descr="/home/claude/ppt/icons/FiTrendingUp_FFFFF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70732" y="3575304"/>
            <a:ext cx="164592" cy="164592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3886200" y="3328416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monitoring over time</a:t>
            </a:r>
            <a:endParaRPr lang="en-US" sz="920" dirty="0"/>
          </a:p>
        </p:txBody>
      </p:sp>
      <p:sp>
        <p:nvSpPr>
          <p:cNvPr id="60" name="Shape 43"/>
          <p:cNvSpPr/>
          <p:nvPr/>
        </p:nvSpPr>
        <p:spPr>
          <a:xfrm>
            <a:off x="6144768" y="3328416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1" name="Shape 44"/>
          <p:cNvSpPr/>
          <p:nvPr/>
        </p:nvSpPr>
        <p:spPr>
          <a:xfrm>
            <a:off x="6254496" y="3506724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2" name="Image 15" descr="/home/claude/ppt/icons/FiSliders_FFFFFF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3076" y="3575304"/>
            <a:ext cx="164592" cy="164592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6638544" y="3328416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OS-based task processing</a:t>
            </a:r>
            <a:endParaRPr lang="en-US" sz="920" dirty="0"/>
          </a:p>
        </p:txBody>
      </p:sp>
      <p:sp>
        <p:nvSpPr>
          <p:cNvPr id="64" name="Shape 46"/>
          <p:cNvSpPr/>
          <p:nvPr/>
        </p:nvSpPr>
        <p:spPr>
          <a:xfrm>
            <a:off x="8897112" y="3328416"/>
            <a:ext cx="2624328" cy="658368"/>
          </a:xfrm>
          <a:prstGeom prst="roundRect">
            <a:avLst>
              <a:gd name="adj" fmla="val 13889"/>
            </a:avLst>
          </a:prstGeom>
          <a:solidFill>
            <a:srgbClr val="141A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5" name="Shape 47"/>
          <p:cNvSpPr/>
          <p:nvPr/>
        </p:nvSpPr>
        <p:spPr>
          <a:xfrm>
            <a:off x="9006840" y="3506724"/>
            <a:ext cx="301752" cy="3017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6" name="Image 16" descr="/home/claude/ppt/icons/FiCheckSquare_FFFFFF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5420" y="3575304"/>
            <a:ext cx="164592" cy="164592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9390888" y="3328416"/>
            <a:ext cx="20208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&amp; action tracking</a:t>
            </a:r>
            <a:endParaRPr lang="en-US" sz="920" dirty="0"/>
          </a:p>
        </p:txBody>
      </p:sp>
      <p:sp>
        <p:nvSpPr>
          <p:cNvPr id="68" name="Shape 49"/>
          <p:cNvSpPr/>
          <p:nvPr/>
        </p:nvSpPr>
        <p:spPr>
          <a:xfrm>
            <a:off x="640080" y="41148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9" name="Shape 50"/>
          <p:cNvSpPr/>
          <p:nvPr/>
        </p:nvSpPr>
        <p:spPr>
          <a:xfrm>
            <a:off x="868680" y="4279392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70" name="Text 51"/>
          <p:cNvSpPr/>
          <p:nvPr/>
        </p:nvSpPr>
        <p:spPr>
          <a:xfrm>
            <a:off x="868680" y="42793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/ DEMO DATA</a:t>
            </a:r>
            <a:endParaRPr lang="en-US" sz="880" dirty="0"/>
          </a:p>
        </p:txBody>
      </p:sp>
      <p:sp>
        <p:nvSpPr>
          <p:cNvPr id="71" name="Text 52"/>
          <p:cNvSpPr/>
          <p:nvPr/>
        </p:nvSpPr>
        <p:spPr>
          <a:xfrm>
            <a:off x="868680" y="4645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Feedback</a:t>
            </a:r>
            <a:endParaRPr lang="en-US" sz="1050" dirty="0"/>
          </a:p>
        </p:txBody>
      </p:sp>
      <p:sp>
        <p:nvSpPr>
          <p:cNvPr id="72" name="Text 53"/>
          <p:cNvSpPr/>
          <p:nvPr/>
        </p:nvSpPr>
        <p:spPr>
          <a:xfrm>
            <a:off x="868680" y="491947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Wi-Fi keeps disconnecting in Block B and students cannot attend online classes properly.”</a:t>
            </a:r>
            <a:endParaRPr lang="en-US" sz="1000" dirty="0"/>
          </a:p>
        </p:txBody>
      </p:sp>
      <p:sp>
        <p:nvSpPr>
          <p:cNvPr id="73" name="Shape 54"/>
          <p:cNvSpPr/>
          <p:nvPr/>
        </p:nvSpPr>
        <p:spPr>
          <a:xfrm>
            <a:off x="5349240" y="4343400"/>
            <a:ext cx="0" cy="1097280"/>
          </a:xfrm>
          <a:prstGeom prst="line">
            <a:avLst/>
          </a:prstGeom>
          <a:noFill/>
          <a:ln w="12700">
            <a:solidFill>
              <a:srgbClr val="2A3268"/>
            </a:solidFill>
            <a:prstDash val="solid"/>
          </a:ln>
        </p:spPr>
      </p:sp>
      <p:sp>
        <p:nvSpPr>
          <p:cNvPr id="74" name="Text 55"/>
          <p:cNvSpPr/>
          <p:nvPr/>
        </p:nvSpPr>
        <p:spPr>
          <a:xfrm>
            <a:off x="5623560" y="4279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Output</a:t>
            </a:r>
            <a:endParaRPr lang="en-US" sz="1050" dirty="0"/>
          </a:p>
        </p:txBody>
      </p:sp>
      <p:sp>
        <p:nvSpPr>
          <p:cNvPr id="75" name="Text 56"/>
          <p:cNvSpPr/>
          <p:nvPr/>
        </p:nvSpPr>
        <p:spPr>
          <a:xfrm>
            <a:off x="5623560" y="459943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   </a:t>
            </a:r>
            <a:pPr algn="l" indent="0" marL="0">
              <a:buNone/>
            </a:pPr>
            <a:r>
              <a:rPr lang="en-US" sz="930" b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</a:t>
            </a:r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930" dirty="0"/>
          </a:p>
        </p:txBody>
      </p:sp>
      <p:sp>
        <p:nvSpPr>
          <p:cNvPr id="76" name="Text 57"/>
          <p:cNvSpPr/>
          <p:nvPr/>
        </p:nvSpPr>
        <p:spPr>
          <a:xfrm>
            <a:off x="5623560" y="484632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</a:t>
            </a:r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   </a:t>
            </a:r>
            <a:pPr algn="l" indent="0" marL="0">
              <a:buNone/>
            </a:pPr>
            <a:r>
              <a:rPr lang="en-US" sz="930" b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30" dirty="0"/>
          </a:p>
        </p:txBody>
      </p:sp>
      <p:sp>
        <p:nvSpPr>
          <p:cNvPr id="77" name="Text 58"/>
          <p:cNvSpPr/>
          <p:nvPr/>
        </p:nvSpPr>
        <p:spPr>
          <a:xfrm>
            <a:off x="5623560" y="509320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     </a:t>
            </a:r>
            <a:pPr algn="l" indent="0" marL="0">
              <a:buNone/>
            </a:pPr>
            <a:r>
              <a:rPr lang="en-US" sz="930" b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30" dirty="0"/>
          </a:p>
        </p:txBody>
      </p:sp>
      <p:sp>
        <p:nvSpPr>
          <p:cNvPr id="78" name="Text 59"/>
          <p:cNvSpPr/>
          <p:nvPr/>
        </p:nvSpPr>
        <p:spPr>
          <a:xfrm>
            <a:off x="5623560" y="53583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network coverage and capacity in Block B</a:t>
            </a:r>
            <a:endParaRPr lang="en-US" sz="930" dirty="0"/>
          </a:p>
        </p:txBody>
      </p:sp>
      <p:sp>
        <p:nvSpPr>
          <p:cNvPr id="79" name="Text 60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“ProcessMind — From Student Voice to Intelligent Action.”</a:t>
            </a:r>
            <a:endParaRPr lang="en-US" sz="1500" dirty="0"/>
          </a:p>
        </p:txBody>
      </p:sp>
      <p:sp>
        <p:nvSpPr>
          <p:cNvPr id="80" name="Text 6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 |  OSSP Project  |  KL University, Aziznagar</a:t>
            </a:r>
            <a:endParaRPr lang="en-US" sz="900" dirty="0"/>
          </a:p>
        </p:txBody>
      </p:sp>
      <p:sp>
        <p:nvSpPr>
          <p:cNvPr id="81" name="Text 62"/>
          <p:cNvSpPr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5A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4" name="Image 0" descr="/home/claude/ppt/icons/FiCpu_FFFFFF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914400"/>
            <a:ext cx="29260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86868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B215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868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PROJECT  •  2026–27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ProcessMind — AI-Powered Student Voice, Event Intelligence &amp; College Improvement Platform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3657600" cy="0"/>
          </a:xfrm>
          <a:prstGeom prst="line">
            <a:avLst/>
          </a:prstGeom>
          <a:noFill/>
          <a:ln w="12700">
            <a:solidFill>
              <a:srgbClr val="2A32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University, Aziznagar
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7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34340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4507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48920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2520030540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127248" y="48920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Rishitha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2510030182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157216" y="48920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Vineeth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2510030240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187184" y="48920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Fardan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2510030263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217152" y="4892040"/>
            <a:ext cx="1801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Alpansh
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2510030356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2026-08-14T06:24:08Z</dcterms:created>
  <dcterms:modified xsi:type="dcterms:W3CDTF">2026-08-14T06:24:08Z</dcterms:modified>
</cp:coreProperties>
</file>